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5"/>
    <p:sldMasterId id="2147483717" r:id="rId6"/>
    <p:sldMasterId id="2147483764" r:id="rId7"/>
  </p:sldMasterIdLst>
  <p:notesMasterIdLst>
    <p:notesMasterId r:id="rId31"/>
  </p:notesMasterIdLst>
  <p:handoutMasterIdLst>
    <p:handoutMasterId r:id="rId32"/>
  </p:handoutMasterIdLst>
  <p:sldIdLst>
    <p:sldId id="331" r:id="rId8"/>
    <p:sldId id="293" r:id="rId9"/>
    <p:sldId id="369" r:id="rId10"/>
    <p:sldId id="317" r:id="rId11"/>
    <p:sldId id="364" r:id="rId12"/>
    <p:sldId id="334" r:id="rId13"/>
    <p:sldId id="335" r:id="rId14"/>
    <p:sldId id="336" r:id="rId15"/>
    <p:sldId id="342" r:id="rId16"/>
    <p:sldId id="343" r:id="rId17"/>
    <p:sldId id="344" r:id="rId18"/>
    <p:sldId id="360" r:id="rId19"/>
    <p:sldId id="361" r:id="rId20"/>
    <p:sldId id="362" r:id="rId21"/>
    <p:sldId id="338" r:id="rId22"/>
    <p:sldId id="339" r:id="rId23"/>
    <p:sldId id="340" r:id="rId24"/>
    <p:sldId id="358" r:id="rId25"/>
    <p:sldId id="359" r:id="rId26"/>
    <p:sldId id="357" r:id="rId27"/>
    <p:sldId id="356" r:id="rId28"/>
    <p:sldId id="355" r:id="rId29"/>
    <p:sldId id="368" r:id="rId30"/>
  </p:sldIdLst>
  <p:sldSz cx="13439775" cy="7559675"/>
  <p:notesSz cx="6797675" cy="9928225"/>
  <p:defaultTextStyle>
    <a:defPPr>
      <a:defRPr lang="en-US"/>
    </a:defPPr>
    <a:lvl1pPr marL="0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A85E5A-0B5A-44CC-9B6D-57D9FFF438C3}">
          <p14:sldIdLst>
            <p14:sldId id="331"/>
          </p14:sldIdLst>
        </p14:section>
        <p14:section name="DAFF" id="{1495E236-126B-4B44-AFC3-4A13B6D5A31F}">
          <p14:sldIdLst>
            <p14:sldId id="293"/>
            <p14:sldId id="369"/>
            <p14:sldId id="317"/>
            <p14:sldId id="364"/>
          </p14:sldIdLst>
        </p14:section>
        <p14:section name="SAU" id="{9CC55E3F-5A34-4F0A-A323-F09893DA798B}">
          <p14:sldIdLst>
            <p14:sldId id="334"/>
            <p14:sldId id="335"/>
            <p14:sldId id="336"/>
          </p14:sldIdLst>
        </p14:section>
        <p14:section name="VicGov" id="{A6ABAF56-B6C1-47F7-BD1D-3A4B3327CF42}">
          <p14:sldIdLst>
            <p14:sldId id="342"/>
            <p14:sldId id="343"/>
            <p14:sldId id="344"/>
          </p14:sldIdLst>
        </p14:section>
        <p14:section name="DISR" id="{4A0A4DA7-37E9-4AAE-A4D2-B1753068D161}">
          <p14:sldIdLst>
            <p14:sldId id="360"/>
            <p14:sldId id="361"/>
            <p14:sldId id="362"/>
          </p14:sldIdLst>
        </p14:section>
        <p14:section name="Growth" id="{8C01A8BF-82E8-4210-B0BE-1B7BBE27B208}">
          <p14:sldIdLst>
            <p14:sldId id="338"/>
            <p14:sldId id="339"/>
            <p14:sldId id="340"/>
          </p14:sldIdLst>
        </p14:section>
        <p14:section name="P&amp;P" id="{52CA9B1A-80CE-4486-8BD6-116F62FA9C34}">
          <p14:sldIdLst>
            <p14:sldId id="358"/>
            <p14:sldId id="359"/>
            <p14:sldId id="357"/>
          </p14:sldIdLst>
        </p14:section>
        <p14:section name="Emerging" id="{EF5D52A4-CB2B-4C9B-98B1-36DCFDB462AB}">
          <p14:sldIdLst>
            <p14:sldId id="356"/>
            <p14:sldId id="355"/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2" pos="4234" userDrawn="1">
          <p15:clr>
            <a:srgbClr val="A4A3A4"/>
          </p15:clr>
        </p15:guide>
        <p15:guide id="3" orient="horz" pos="238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B1A109-A1F1-67B1-A6C8-B41C96C61177}" name="Joelle Blake" initials="JB" userId="S::joelle.blake@reason.com.au::2253222a-5650-47d9-820c-756e70ed268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434D"/>
    <a:srgbClr val="FFFFFF"/>
    <a:srgbClr val="FFC000"/>
    <a:srgbClr val="F6A09C"/>
    <a:srgbClr val="C6EFCE"/>
    <a:srgbClr val="0096A9"/>
    <a:srgbClr val="FAFAFA"/>
    <a:srgbClr val="808080"/>
    <a:srgbClr val="00ADC4"/>
    <a:srgbClr val="009D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1B8AB2-2C09-4693-BD9F-28FDFA36A140}" v="313" dt="2026-02-20T04:22:46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092" y="306"/>
      </p:cViewPr>
      <p:guideLst>
        <p:guide pos="4234"/>
        <p:guide orient="horz"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theme" Target="theme/theme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21C6C8-288F-4ABD-9668-4C218E9A6B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8758D6-79FF-9283-311D-DA52285905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ABB3C-5475-4EEE-85CA-361FDC9FB000}" type="datetimeFigureOut">
              <a:rPr lang="en-AU" smtClean="0"/>
              <a:t>21/02/2026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2D13CD-06E8-E3EC-23FF-66CA426574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B9A07-5FAD-BA4E-2213-52B1CA3A4E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8D7432-C364-456E-BF64-83CB46C2D3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00625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F654A-B31C-44B3-A76A-49C2A8C83913}" type="datetimeFigureOut">
              <a:rPr lang="en-AU" smtClean="0"/>
              <a:pPr/>
              <a:t>21/02/2026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0ACAFF-0224-4450-8B9F-423D32B8962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571391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8B946-5154-5BCE-9CF9-3C48835B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5C5269-B152-054C-0F85-5D326DFF6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246B5-B2D8-8AA3-7D15-42C9F3F3A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AU" sz="1050" i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B781C-DCEF-283D-62A6-951B5142CBC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3D248-9EFF-60A9-CA00-1E363C514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0ACAFF-0224-4450-8B9F-423D32B89629}" type="slidenum">
              <a:rPr lang="en-AU" smtClean="0"/>
              <a:pPr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7555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AU" sz="1050" i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0ACAFF-0224-4450-8B9F-423D32B89629}" type="slidenum">
              <a:rPr lang="en-AU" smtClean="0"/>
              <a:pPr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1309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reason.com.au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172646" y="2888090"/>
            <a:ext cx="9503037" cy="900000"/>
          </a:xfrm>
        </p:spPr>
        <p:txBody>
          <a:bodyPr>
            <a:normAutofit/>
          </a:bodyPr>
          <a:lstStyle>
            <a:lvl1pPr algn="l">
              <a:defRPr sz="4800" baseline="0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Title</a:t>
            </a:r>
            <a:endParaRPr lang="en-AU"/>
          </a:p>
        </p:txBody>
      </p:sp>
      <p:sp>
        <p:nvSpPr>
          <p:cNvPr id="10" name="Text Placeholder 18"/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1181337" y="3788090"/>
            <a:ext cx="9503037" cy="61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2800" cap="small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1" name="Text Placeholder 18"/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1172646" y="5235292"/>
            <a:ext cx="9503037" cy="43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cap="small" baseline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DD MMM </a:t>
            </a:r>
            <a:r>
              <a:rPr lang="en-US" err="1"/>
              <a:t>YYYY</a:t>
            </a:r>
            <a:endParaRPr lang="en-AU"/>
          </a:p>
        </p:txBody>
      </p:sp>
      <p:sp>
        <p:nvSpPr>
          <p:cNvPr id="17" name="Flowchart: Data 3">
            <a:extLst>
              <a:ext uri="{FF2B5EF4-FFF2-40B4-BE49-F238E27FC236}">
                <a16:creationId xmlns:a16="http://schemas.microsoft.com/office/drawing/2014/main" id="{D123A1A2-6397-107B-5499-BC4F50FD4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11064763" y="-3024"/>
            <a:ext cx="2375012" cy="7562699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23 w 10023"/>
              <a:gd name="connsiteY0" fmla="*/ 10000 h 10000"/>
              <a:gd name="connsiteX1" fmla="*/ 0 w 10023"/>
              <a:gd name="connsiteY1" fmla="*/ 0 h 10000"/>
              <a:gd name="connsiteX2" fmla="*/ 10023 w 10023"/>
              <a:gd name="connsiteY2" fmla="*/ 0 h 10000"/>
              <a:gd name="connsiteX3" fmla="*/ 8023 w 10023"/>
              <a:gd name="connsiteY3" fmla="*/ 10000 h 10000"/>
              <a:gd name="connsiteX4" fmla="*/ 23 w 10023"/>
              <a:gd name="connsiteY4" fmla="*/ 10000 h 10000"/>
              <a:gd name="connsiteX0" fmla="*/ 23 w 10023"/>
              <a:gd name="connsiteY0" fmla="*/ 10000 h 10000"/>
              <a:gd name="connsiteX1" fmla="*/ 0 w 10023"/>
              <a:gd name="connsiteY1" fmla="*/ 0 h 10000"/>
              <a:gd name="connsiteX2" fmla="*/ 10023 w 10023"/>
              <a:gd name="connsiteY2" fmla="*/ 0 h 10000"/>
              <a:gd name="connsiteX3" fmla="*/ 2348 w 10023"/>
              <a:gd name="connsiteY3" fmla="*/ 9945 h 10000"/>
              <a:gd name="connsiteX4" fmla="*/ 23 w 10023"/>
              <a:gd name="connsiteY4" fmla="*/ 10000 h 10000"/>
              <a:gd name="connsiteX0" fmla="*/ 23 w 10023"/>
              <a:gd name="connsiteY0" fmla="*/ 10000 h 10011"/>
              <a:gd name="connsiteX1" fmla="*/ 0 w 10023"/>
              <a:gd name="connsiteY1" fmla="*/ 0 h 10011"/>
              <a:gd name="connsiteX2" fmla="*/ 10023 w 10023"/>
              <a:gd name="connsiteY2" fmla="*/ 0 h 10011"/>
              <a:gd name="connsiteX3" fmla="*/ 2126 w 10023"/>
              <a:gd name="connsiteY3" fmla="*/ 10011 h 10011"/>
              <a:gd name="connsiteX4" fmla="*/ 23 w 10023"/>
              <a:gd name="connsiteY4" fmla="*/ 10000 h 10011"/>
              <a:gd name="connsiteX0" fmla="*/ 23 w 10023"/>
              <a:gd name="connsiteY0" fmla="*/ 10000 h 10004"/>
              <a:gd name="connsiteX1" fmla="*/ 0 w 10023"/>
              <a:gd name="connsiteY1" fmla="*/ 0 h 10004"/>
              <a:gd name="connsiteX2" fmla="*/ 10023 w 10023"/>
              <a:gd name="connsiteY2" fmla="*/ 0 h 10004"/>
              <a:gd name="connsiteX3" fmla="*/ 1060 w 10023"/>
              <a:gd name="connsiteY3" fmla="*/ 10004 h 10004"/>
              <a:gd name="connsiteX4" fmla="*/ 23 w 10023"/>
              <a:gd name="connsiteY4" fmla="*/ 10000 h 10004"/>
              <a:gd name="connsiteX0" fmla="*/ 23 w 10023"/>
              <a:gd name="connsiteY0" fmla="*/ 10000 h 10004"/>
              <a:gd name="connsiteX1" fmla="*/ 0 w 10023"/>
              <a:gd name="connsiteY1" fmla="*/ 0 h 10004"/>
              <a:gd name="connsiteX2" fmla="*/ 10023 w 10023"/>
              <a:gd name="connsiteY2" fmla="*/ 0 h 10004"/>
              <a:gd name="connsiteX3" fmla="*/ 576 w 10023"/>
              <a:gd name="connsiteY3" fmla="*/ 10004 h 10004"/>
              <a:gd name="connsiteX4" fmla="*/ 23 w 10023"/>
              <a:gd name="connsiteY4" fmla="*/ 10000 h 1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3" h="10004">
                <a:moveTo>
                  <a:pt x="23" y="10000"/>
                </a:moveTo>
                <a:cubicBezTo>
                  <a:pt x="15" y="6667"/>
                  <a:pt x="8" y="3333"/>
                  <a:pt x="0" y="0"/>
                </a:cubicBezTo>
                <a:lnTo>
                  <a:pt x="10023" y="0"/>
                </a:lnTo>
                <a:lnTo>
                  <a:pt x="576" y="10004"/>
                </a:lnTo>
                <a:lnTo>
                  <a:pt x="23" y="10000"/>
                </a:lnTo>
                <a:close/>
              </a:path>
            </a:pathLst>
          </a:custGeom>
          <a:solidFill>
            <a:srgbClr val="1E96AD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F5324DC2-872F-14E0-5FC0-205C94BC85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10428145" y="3520441"/>
            <a:ext cx="3011630" cy="4039234"/>
          </a:xfrm>
          <a:prstGeom prst="rtTriangle">
            <a:avLst/>
          </a:prstGeom>
          <a:solidFill>
            <a:srgbClr val="1E96AD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145CCD8-4EFE-2ABD-77FF-6951A367B83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1032753"/>
            <a:ext cx="3708000" cy="1285401"/>
            <a:chOff x="-1" y="930388"/>
            <a:chExt cx="4021812" cy="142273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57DF3C9-100A-BB3B-D60F-839A098F63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1" y="930388"/>
              <a:ext cx="4021811" cy="787876"/>
            </a:xfrm>
            <a:prstGeom prst="rect">
              <a:avLst/>
            </a:prstGeom>
            <a:solidFill>
              <a:srgbClr val="0096A9"/>
            </a:solidFill>
            <a:ln>
              <a:solidFill>
                <a:srgbClr val="0096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7" name="Picture 6" descr="A blue and black sign with white text&#10;&#10;AI-generated content may be incorrect.">
              <a:extLst>
                <a:ext uri="{FF2B5EF4-FFF2-40B4-BE49-F238E27FC236}">
                  <a16:creationId xmlns:a16="http://schemas.microsoft.com/office/drawing/2014/main" id="{9A1590DE-CF37-DE66-C849-E743B613BFA2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 cstate="print">
              <a:clrChange>
                <a:clrFrom>
                  <a:srgbClr val="0096A9"/>
                </a:clrFrom>
                <a:clrTo>
                  <a:srgbClr val="0096A9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337" y="930388"/>
              <a:ext cx="2840474" cy="14227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47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9558" y="2443942"/>
            <a:ext cx="10543846" cy="1332000"/>
          </a:xfrm>
        </p:spPr>
        <p:txBody>
          <a:bodyPr>
            <a:normAutofit/>
          </a:bodyPr>
          <a:lstStyle>
            <a:lvl1pPr>
              <a:defRPr sz="4022" baseline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/>
              <a:t>Section Header</a:t>
            </a:r>
            <a:endParaRPr lang="en-AU"/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849558" y="3779837"/>
            <a:ext cx="10543846" cy="1800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66984" rtl="0" eaLnBrk="1" fontAlgn="auto" latinLnBrk="0" hangingPunct="1">
              <a:lnSpc>
                <a:spcPct val="100000"/>
              </a:lnSpc>
              <a:spcBef>
                <a:spcPts val="150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11" baseline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Optional: Section description</a:t>
            </a:r>
          </a:p>
          <a:p>
            <a:pPr marL="0" marR="0" lvl="0" indent="0" algn="l" defTabSz="1266984" rtl="0" eaLnBrk="1" fontAlgn="auto" latinLnBrk="0" hangingPunct="1">
              <a:lnSpc>
                <a:spcPct val="90000"/>
              </a:lnSpc>
              <a:spcBef>
                <a:spcPts val="138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This page is a section header to group multiple slides together.</a:t>
            </a:r>
          </a:p>
          <a:p>
            <a:pPr lvl="0"/>
            <a:endParaRPr lang="en-AU"/>
          </a:p>
        </p:txBody>
      </p:sp>
      <p:sp>
        <p:nvSpPr>
          <p:cNvPr id="3" name="Rectangle 2"/>
          <p:cNvSpPr/>
          <p:nvPr userDrawn="1"/>
        </p:nvSpPr>
        <p:spPr>
          <a:xfrm>
            <a:off x="-1" y="-43201"/>
            <a:ext cx="13440010" cy="1677601"/>
          </a:xfrm>
          <a:custGeom>
            <a:avLst/>
            <a:gdLst>
              <a:gd name="connsiteX0" fmla="*/ 0 w 10691813"/>
              <a:gd name="connsiteY0" fmla="*/ 0 h 1745673"/>
              <a:gd name="connsiteX1" fmla="*/ 10691813 w 10691813"/>
              <a:gd name="connsiteY1" fmla="*/ 0 h 1745673"/>
              <a:gd name="connsiteX2" fmla="*/ 10691813 w 10691813"/>
              <a:gd name="connsiteY2" fmla="*/ 1745673 h 1745673"/>
              <a:gd name="connsiteX3" fmla="*/ 0 w 10691813"/>
              <a:gd name="connsiteY3" fmla="*/ 1745673 h 1745673"/>
              <a:gd name="connsiteX4" fmla="*/ 0 w 10691813"/>
              <a:gd name="connsiteY4" fmla="*/ 0 h 1745673"/>
              <a:gd name="connsiteX0" fmla="*/ 0 w 10691813"/>
              <a:gd name="connsiteY0" fmla="*/ 0 h 1745673"/>
              <a:gd name="connsiteX1" fmla="*/ 10691813 w 10691813"/>
              <a:gd name="connsiteY1" fmla="*/ 0 h 1745673"/>
              <a:gd name="connsiteX2" fmla="*/ 10691813 w 10691813"/>
              <a:gd name="connsiteY2" fmla="*/ 1221971 h 1745673"/>
              <a:gd name="connsiteX3" fmla="*/ 0 w 10691813"/>
              <a:gd name="connsiteY3" fmla="*/ 1745673 h 1745673"/>
              <a:gd name="connsiteX4" fmla="*/ 0 w 10691813"/>
              <a:gd name="connsiteY4" fmla="*/ 0 h 1745673"/>
              <a:gd name="connsiteX0" fmla="*/ 0 w 10691813"/>
              <a:gd name="connsiteY0" fmla="*/ 0 h 1745673"/>
              <a:gd name="connsiteX1" fmla="*/ 10691813 w 10691813"/>
              <a:gd name="connsiteY1" fmla="*/ 0 h 1745673"/>
              <a:gd name="connsiteX2" fmla="*/ 10684613 w 10691813"/>
              <a:gd name="connsiteY2" fmla="*/ 1452400 h 1745673"/>
              <a:gd name="connsiteX3" fmla="*/ 0 w 10691813"/>
              <a:gd name="connsiteY3" fmla="*/ 1745673 h 1745673"/>
              <a:gd name="connsiteX4" fmla="*/ 0 w 10691813"/>
              <a:gd name="connsiteY4" fmla="*/ 0 h 1745673"/>
              <a:gd name="connsiteX0" fmla="*/ 0 w 10691813"/>
              <a:gd name="connsiteY0" fmla="*/ 0 h 1745673"/>
              <a:gd name="connsiteX1" fmla="*/ 10691813 w 10691813"/>
              <a:gd name="connsiteY1" fmla="*/ 0 h 1745673"/>
              <a:gd name="connsiteX2" fmla="*/ 10684613 w 10691813"/>
              <a:gd name="connsiteY2" fmla="*/ 1438435 h 1745673"/>
              <a:gd name="connsiteX3" fmla="*/ 0 w 10691813"/>
              <a:gd name="connsiteY3" fmla="*/ 1745673 h 1745673"/>
              <a:gd name="connsiteX4" fmla="*/ 0 w 10691813"/>
              <a:gd name="connsiteY4" fmla="*/ 0 h 1745673"/>
              <a:gd name="connsiteX0" fmla="*/ 0 w 10684613"/>
              <a:gd name="connsiteY0" fmla="*/ 6983 h 1752656"/>
              <a:gd name="connsiteX1" fmla="*/ 10684613 w 10684613"/>
              <a:gd name="connsiteY1" fmla="*/ 0 h 1752656"/>
              <a:gd name="connsiteX2" fmla="*/ 10684613 w 10684613"/>
              <a:gd name="connsiteY2" fmla="*/ 1445418 h 1752656"/>
              <a:gd name="connsiteX3" fmla="*/ 0 w 10684613"/>
              <a:gd name="connsiteY3" fmla="*/ 1752656 h 1752656"/>
              <a:gd name="connsiteX4" fmla="*/ 0 w 10684613"/>
              <a:gd name="connsiteY4" fmla="*/ 6983 h 1752656"/>
              <a:gd name="connsiteX0" fmla="*/ 0 w 10684613"/>
              <a:gd name="connsiteY0" fmla="*/ 6983 h 1752656"/>
              <a:gd name="connsiteX1" fmla="*/ 10684613 w 10684613"/>
              <a:gd name="connsiteY1" fmla="*/ 0 h 1752656"/>
              <a:gd name="connsiteX2" fmla="*/ 10677413 w 10684613"/>
              <a:gd name="connsiteY2" fmla="*/ 1452401 h 1752656"/>
              <a:gd name="connsiteX3" fmla="*/ 0 w 10684613"/>
              <a:gd name="connsiteY3" fmla="*/ 1752656 h 1752656"/>
              <a:gd name="connsiteX4" fmla="*/ 0 w 10684613"/>
              <a:gd name="connsiteY4" fmla="*/ 6983 h 1752656"/>
              <a:gd name="connsiteX0" fmla="*/ 0 w 10699013"/>
              <a:gd name="connsiteY0" fmla="*/ 6983 h 1752656"/>
              <a:gd name="connsiteX1" fmla="*/ 10684613 w 10699013"/>
              <a:gd name="connsiteY1" fmla="*/ 0 h 1752656"/>
              <a:gd name="connsiteX2" fmla="*/ 10699013 w 10699013"/>
              <a:gd name="connsiteY2" fmla="*/ 1445418 h 1752656"/>
              <a:gd name="connsiteX3" fmla="*/ 0 w 10699013"/>
              <a:gd name="connsiteY3" fmla="*/ 1752656 h 1752656"/>
              <a:gd name="connsiteX4" fmla="*/ 0 w 10699013"/>
              <a:gd name="connsiteY4" fmla="*/ 6983 h 1752656"/>
              <a:gd name="connsiteX0" fmla="*/ 0 w 10684613"/>
              <a:gd name="connsiteY0" fmla="*/ 6983 h 1752656"/>
              <a:gd name="connsiteX1" fmla="*/ 10684613 w 10684613"/>
              <a:gd name="connsiteY1" fmla="*/ 0 h 1752656"/>
              <a:gd name="connsiteX2" fmla="*/ 10684613 w 10684613"/>
              <a:gd name="connsiteY2" fmla="*/ 1445418 h 1752656"/>
              <a:gd name="connsiteX3" fmla="*/ 0 w 10684613"/>
              <a:gd name="connsiteY3" fmla="*/ 1752656 h 1752656"/>
              <a:gd name="connsiteX4" fmla="*/ 0 w 10684613"/>
              <a:gd name="connsiteY4" fmla="*/ 6983 h 175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84613" h="1752656">
                <a:moveTo>
                  <a:pt x="0" y="6983"/>
                </a:moveTo>
                <a:lnTo>
                  <a:pt x="10684613" y="0"/>
                </a:lnTo>
                <a:lnTo>
                  <a:pt x="10684613" y="1445418"/>
                </a:lnTo>
                <a:lnTo>
                  <a:pt x="0" y="1752656"/>
                </a:lnTo>
                <a:lnTo>
                  <a:pt x="0" y="6983"/>
                </a:lnTo>
                <a:close/>
              </a:path>
            </a:pathLst>
          </a:custGeom>
          <a:solidFill>
            <a:srgbClr val="1E96AD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DF41ED-9E48-9059-A373-60C2FEF5C793}"/>
              </a:ext>
            </a:extLst>
          </p:cNvPr>
          <p:cNvSpPr/>
          <p:nvPr userDrawn="1"/>
        </p:nvSpPr>
        <p:spPr>
          <a:xfrm>
            <a:off x="234" y="6948488"/>
            <a:ext cx="13439775" cy="619200"/>
          </a:xfrm>
          <a:prstGeom prst="rect">
            <a:avLst/>
          </a:prstGeom>
          <a:solidFill>
            <a:srgbClr val="3843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5286C-99BC-49FF-76D6-84AD868DA0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59" y="7060925"/>
            <a:ext cx="1042446" cy="43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63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184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ular Callout 1">
            <a:extLst>
              <a:ext uri="{FF2B5EF4-FFF2-40B4-BE49-F238E27FC236}">
                <a16:creationId xmlns:a16="http://schemas.microsoft.com/office/drawing/2014/main" id="{0577A9A6-3870-F014-AE85-004348E942FA}"/>
              </a:ext>
            </a:extLst>
          </p:cNvPr>
          <p:cNvSpPr/>
          <p:nvPr userDrawn="1"/>
        </p:nvSpPr>
        <p:spPr>
          <a:xfrm>
            <a:off x="3034176" y="2313278"/>
            <a:ext cx="2520000" cy="2520000"/>
          </a:xfrm>
          <a:prstGeom prst="wedgeRoundRectCallout">
            <a:avLst>
              <a:gd name="adj1" fmla="val 26668"/>
              <a:gd name="adj2" fmla="val 62500"/>
              <a:gd name="adj3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5000" b="1">
                <a:latin typeface="+mn-lt"/>
              </a:rPr>
              <a:t>Q</a:t>
            </a:r>
          </a:p>
        </p:txBody>
      </p:sp>
      <p:sp>
        <p:nvSpPr>
          <p:cNvPr id="6" name="Rounded Rectangular Callout 2">
            <a:extLst>
              <a:ext uri="{FF2B5EF4-FFF2-40B4-BE49-F238E27FC236}">
                <a16:creationId xmlns:a16="http://schemas.microsoft.com/office/drawing/2014/main" id="{E73616AF-AE66-D012-3986-A1A1FD48868B}"/>
              </a:ext>
            </a:extLst>
          </p:cNvPr>
          <p:cNvSpPr/>
          <p:nvPr userDrawn="1"/>
        </p:nvSpPr>
        <p:spPr>
          <a:xfrm>
            <a:off x="7705926" y="2313278"/>
            <a:ext cx="2520000" cy="2520000"/>
          </a:xfrm>
          <a:prstGeom prst="wedgeRoundRectCallout">
            <a:avLst>
              <a:gd name="adj1" fmla="val -27761"/>
              <a:gd name="adj2" fmla="val 63490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5000" b="1">
                <a:latin typeface="+mn-lt"/>
              </a:rPr>
              <a:t>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4A46AA-E8E6-91DB-1065-309636BAF7B9}"/>
              </a:ext>
            </a:extLst>
          </p:cNvPr>
          <p:cNvSpPr/>
          <p:nvPr userDrawn="1"/>
        </p:nvSpPr>
        <p:spPr>
          <a:xfrm>
            <a:off x="5303550" y="2313278"/>
            <a:ext cx="2520000" cy="25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0" b="1">
                <a:solidFill>
                  <a:schemeClr val="bg2"/>
                </a:solidFill>
                <a:latin typeface="+mn-lt"/>
              </a:rPr>
              <a:t>&amp;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6253DE-3EBD-FF0E-7341-D656F045CA40}"/>
              </a:ext>
            </a:extLst>
          </p:cNvPr>
          <p:cNvSpPr/>
          <p:nvPr userDrawn="1"/>
        </p:nvSpPr>
        <p:spPr>
          <a:xfrm>
            <a:off x="234" y="6948488"/>
            <a:ext cx="13439775" cy="619200"/>
          </a:xfrm>
          <a:prstGeom prst="rect">
            <a:avLst/>
          </a:prstGeom>
          <a:solidFill>
            <a:srgbClr val="3843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2D3A07-9FDD-3D03-2716-7D423550E2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59" y="7060925"/>
            <a:ext cx="1042446" cy="43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02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">
    <p:bg>
      <p:bgPr>
        <a:solidFill>
          <a:srgbClr val="3843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2819399" y="2591328"/>
            <a:ext cx="4478827" cy="10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AU" sz="10056" b="0">
                <a:solidFill>
                  <a:srgbClr val="00ADC4"/>
                </a:solidFill>
                <a:latin typeface="+mj-lt"/>
              </a:rPr>
              <a:t>THANK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7236062" y="2591328"/>
            <a:ext cx="4977782" cy="10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AU" sz="10056" b="0">
                <a:solidFill>
                  <a:schemeClr val="bg1"/>
                </a:solidFill>
                <a:latin typeface="+mj-lt"/>
              </a:rPr>
              <a:t>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B3C210-B302-7D1C-F118-FBD05A3EC5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4986938"/>
            <a:ext cx="13439776" cy="2553320"/>
          </a:xfrm>
          <a:prstGeom prst="rect">
            <a:avLst/>
          </a:prstGeom>
          <a:solidFill>
            <a:srgbClr val="333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9B4239-0CAF-A5BD-40CD-87F8E1262F8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9399" y="5503024"/>
            <a:ext cx="1124707" cy="1372898"/>
          </a:xfrm>
          <a:prstGeom prst="rect">
            <a:avLst/>
          </a:prstGeom>
        </p:spPr>
      </p:pic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5EFAC2CA-FE8F-BF03-BF67-62D983C9F384}"/>
              </a:ext>
            </a:extLst>
          </p:cNvPr>
          <p:cNvSpPr>
            <a:spLocks/>
          </p:cNvSpPr>
          <p:nvPr userDrawn="1"/>
        </p:nvSpPr>
        <p:spPr>
          <a:xfrm>
            <a:off x="4026273" y="5401989"/>
            <a:ext cx="2067834" cy="1473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</a:pPr>
            <a:r>
              <a:rPr lang="en-AU" sz="1150" b="1">
                <a:solidFill>
                  <a:srgbClr val="FFFFFF"/>
                </a:solidFill>
                <a:ea typeface="Segoe UI" panose="020B0502040204020203" pitchFamily="34" charset="0"/>
                <a:cs typeface="Times New Roman" panose="02020603050405020304" pitchFamily="18" charset="0"/>
              </a:rPr>
              <a:t>Reason Group Pty Ltd</a:t>
            </a:r>
          </a:p>
          <a:p>
            <a:pPr>
              <a:lnSpc>
                <a:spcPct val="115000"/>
              </a:lnSpc>
            </a:pPr>
            <a:endParaRPr lang="en-AU" sz="1150"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DE" sz="1150">
                <a:solidFill>
                  <a:srgbClr val="FFFFFF"/>
                </a:solidFill>
                <a:ea typeface="Segoe UI" panose="020B0502040204020203" pitchFamily="34" charset="0"/>
                <a:cs typeface="Times New Roman" panose="02020603050405020304" pitchFamily="18" charset="0"/>
              </a:rPr>
              <a:t>ABN 34 128 711 348</a:t>
            </a:r>
          </a:p>
          <a:p>
            <a:pPr>
              <a:lnSpc>
                <a:spcPct val="115000"/>
              </a:lnSpc>
            </a:pPr>
            <a:r>
              <a:rPr lang="en-AU" sz="1150">
                <a:solidFill>
                  <a:schemeClr val="bg1"/>
                </a:solidFill>
                <a:ea typeface="Segoe UI" panose="020B0502040204020203" pitchFamily="34" charset="0"/>
                <a:cs typeface="Times New Roman" panose="02020603050405020304" pitchFamily="18" charset="0"/>
              </a:rPr>
              <a:t>E:  business@reason.com.au </a:t>
            </a:r>
            <a:endParaRPr lang="en-AU" sz="1150">
              <a:solidFill>
                <a:srgbClr val="FFFFFF"/>
              </a:solidFill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AU" sz="1150">
                <a:solidFill>
                  <a:srgbClr val="FFFFFF"/>
                </a:solidFill>
                <a:cs typeface="Times New Roman" panose="02020603050405020304" pitchFamily="18" charset="0"/>
              </a:rPr>
              <a:t>T: +61 2 6152 0942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AU" sz="1100">
                <a:solidFill>
                  <a:srgbClr val="FAFAFA"/>
                </a:solidFill>
                <a:effectLst/>
                <a:latin typeface="+mj-lt"/>
                <a:ea typeface="Segoe UI" panose="020B0502040204020203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B59044-A0F0-1F43-89F6-499D05FC4B4E}"/>
              </a:ext>
            </a:extLst>
          </p:cNvPr>
          <p:cNvSpPr/>
          <p:nvPr userDrawn="1"/>
        </p:nvSpPr>
        <p:spPr>
          <a:xfrm>
            <a:off x="7544237" y="5503024"/>
            <a:ext cx="4097830" cy="359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942" tIns="57471" rIns="114942" bIns="5747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</a:pPr>
            <a:r>
              <a:rPr lang="en-AU" sz="1200" b="1" noProof="0">
                <a:solidFill>
                  <a:schemeClr val="bg1"/>
                </a:solidFill>
                <a:ea typeface="Segoe UI" panose="020B0502040204020203" pitchFamily="34" charset="0"/>
                <a:cs typeface="Times New Roman" panose="02020603050405020304" pitchFamily="18" charset="0"/>
              </a:rPr>
              <a:t>www.reason.com.au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F65F5E-DA5D-FF81-7E50-798253A9FFE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84542" y="5503024"/>
            <a:ext cx="359695" cy="3596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C0B11C-0541-726D-98B5-666F893EFAA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184542" y="6007332"/>
            <a:ext cx="359695" cy="39627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2CD872A-A2C7-A864-BEC0-1B05092EDFD1}"/>
              </a:ext>
            </a:extLst>
          </p:cNvPr>
          <p:cNvSpPr/>
          <p:nvPr userDrawn="1"/>
        </p:nvSpPr>
        <p:spPr>
          <a:xfrm>
            <a:off x="7544237" y="6083030"/>
            <a:ext cx="4097830" cy="359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942" tIns="57471" rIns="114942" bIns="5747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AU" sz="1200" b="1" noProof="0"/>
              <a:t>www.linkedin.com/company/reasongroup</a:t>
            </a:r>
          </a:p>
        </p:txBody>
      </p:sp>
    </p:spTree>
    <p:extLst>
      <p:ext uri="{BB962C8B-B14F-4D97-AF65-F5344CB8AC3E}">
        <p14:creationId xmlns:p14="http://schemas.microsoft.com/office/powerpoint/2010/main" val="4264003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And contents</a:t>
            </a:r>
            <a:endParaRPr lang="en-AU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836121" y="1454727"/>
            <a:ext cx="11761126" cy="5381184"/>
          </a:xfrm>
          <a:prstGeom prst="rect">
            <a:avLst/>
          </a:prstGeom>
        </p:spPr>
        <p:txBody>
          <a:bodyPr tIns="0"/>
          <a:lstStyle>
            <a:lvl1pPr marL="0" indent="0">
              <a:buNone/>
              <a:defRPr sz="352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301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564724" indent="-343224">
              <a:buClr>
                <a:schemeClr val="tx2"/>
              </a:buClr>
              <a:buSzPct val="120000"/>
              <a:defRPr sz="2514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897969" indent="-343224">
              <a:buClr>
                <a:schemeClr val="accent3"/>
              </a:buClr>
              <a:defRPr sz="226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243189" indent="-343224">
              <a:buClr>
                <a:schemeClr val="bg2"/>
              </a:buClr>
              <a:defRPr sz="226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Insert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05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age 4 Sections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err="1"/>
              <a:t>AgenDa</a:t>
            </a:r>
            <a:r>
              <a:rPr lang="en-US"/>
              <a:t> PAGE WITH Icons – 4 Sections</a:t>
            </a:r>
            <a:endParaRPr lang="en-AU"/>
          </a:p>
        </p:txBody>
      </p:sp>
      <p:sp>
        <p:nvSpPr>
          <p:cNvPr id="20" name="Freeform 28">
            <a:extLst>
              <a:ext uri="{FF2B5EF4-FFF2-40B4-BE49-F238E27FC236}">
                <a16:creationId xmlns:a16="http://schemas.microsoft.com/office/drawing/2014/main" id="{7FD1C72D-30D7-5CB8-7C3E-661975F3CC33}"/>
              </a:ext>
            </a:extLst>
          </p:cNvPr>
          <p:cNvSpPr/>
          <p:nvPr userDrawn="1"/>
        </p:nvSpPr>
        <p:spPr>
          <a:xfrm>
            <a:off x="973884" y="1573665"/>
            <a:ext cx="477812" cy="401256"/>
          </a:xfrm>
          <a:custGeom>
            <a:avLst/>
            <a:gdLst>
              <a:gd name="connsiteX0" fmla="*/ 0 w 637083"/>
              <a:gd name="connsiteY0" fmla="*/ 0 h 535008"/>
              <a:gd name="connsiteX1" fmla="*/ 232616 w 637083"/>
              <a:gd name="connsiteY1" fmla="*/ 0 h 535008"/>
              <a:gd name="connsiteX2" fmla="*/ 260711 w 637083"/>
              <a:gd name="connsiteY2" fmla="*/ 26787 h 535008"/>
              <a:gd name="connsiteX3" fmla="*/ 572096 w 637083"/>
              <a:gd name="connsiteY3" fmla="*/ 369396 h 535008"/>
              <a:gd name="connsiteX4" fmla="*/ 637083 w 637083"/>
              <a:gd name="connsiteY4" fmla="*/ 452093 h 535008"/>
              <a:gd name="connsiteX5" fmla="*/ 627565 w 637083"/>
              <a:gd name="connsiteY5" fmla="*/ 455048 h 535008"/>
              <a:gd name="connsiteX6" fmla="*/ 532376 w 637083"/>
              <a:gd name="connsiteY6" fmla="*/ 506715 h 535008"/>
              <a:gd name="connsiteX7" fmla="*/ 498084 w 637083"/>
              <a:gd name="connsiteY7" fmla="*/ 535008 h 535008"/>
              <a:gd name="connsiteX8" fmla="*/ 448199 w 637083"/>
              <a:gd name="connsiteY8" fmla="*/ 471528 h 535008"/>
              <a:gd name="connsiteX9" fmla="*/ 147177 w 637083"/>
              <a:gd name="connsiteY9" fmla="*/ 140321 h 53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7083" h="535008">
                <a:moveTo>
                  <a:pt x="0" y="0"/>
                </a:moveTo>
                <a:lnTo>
                  <a:pt x="232616" y="0"/>
                </a:lnTo>
                <a:lnTo>
                  <a:pt x="260711" y="26787"/>
                </a:lnTo>
                <a:cubicBezTo>
                  <a:pt x="369845" y="135921"/>
                  <a:pt x="473774" y="250259"/>
                  <a:pt x="572096" y="369396"/>
                </a:cubicBezTo>
                <a:lnTo>
                  <a:pt x="637083" y="452093"/>
                </a:lnTo>
                <a:lnTo>
                  <a:pt x="627565" y="455048"/>
                </a:lnTo>
                <a:cubicBezTo>
                  <a:pt x="594043" y="469227"/>
                  <a:pt x="562188" y="486574"/>
                  <a:pt x="532376" y="506715"/>
                </a:cubicBezTo>
                <a:lnTo>
                  <a:pt x="498084" y="535008"/>
                </a:lnTo>
                <a:lnTo>
                  <a:pt x="448199" y="471528"/>
                </a:lnTo>
                <a:cubicBezTo>
                  <a:pt x="353150" y="356356"/>
                  <a:pt x="252679" y="245823"/>
                  <a:pt x="147177" y="14032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1" name="Freeform 33">
            <a:extLst>
              <a:ext uri="{FF2B5EF4-FFF2-40B4-BE49-F238E27FC236}">
                <a16:creationId xmlns:a16="http://schemas.microsoft.com/office/drawing/2014/main" id="{4CAC4174-BDE2-4965-69D9-12C5DFE4551D}"/>
              </a:ext>
            </a:extLst>
          </p:cNvPr>
          <p:cNvSpPr/>
          <p:nvPr userDrawn="1"/>
        </p:nvSpPr>
        <p:spPr>
          <a:xfrm>
            <a:off x="1784887" y="2614905"/>
            <a:ext cx="293946" cy="532272"/>
          </a:xfrm>
          <a:custGeom>
            <a:avLst/>
            <a:gdLst>
              <a:gd name="connsiteX0" fmla="*/ 135550 w 391928"/>
              <a:gd name="connsiteY0" fmla="*/ 0 h 709696"/>
              <a:gd name="connsiteX1" fmla="*/ 213310 w 391928"/>
              <a:gd name="connsiteY1" fmla="*/ 172002 h 709696"/>
              <a:gd name="connsiteX2" fmla="*/ 375545 w 391928"/>
              <a:gd name="connsiteY2" fmla="*/ 615260 h 709696"/>
              <a:gd name="connsiteX3" fmla="*/ 391928 w 391928"/>
              <a:gd name="connsiteY3" fmla="*/ 672955 h 709696"/>
              <a:gd name="connsiteX4" fmla="*/ 335492 w 391928"/>
              <a:gd name="connsiteY4" fmla="*/ 678644 h 709696"/>
              <a:gd name="connsiteX5" fmla="*/ 235461 w 391928"/>
              <a:gd name="connsiteY5" fmla="*/ 709696 h 709696"/>
              <a:gd name="connsiteX6" fmla="*/ 222202 w 391928"/>
              <a:gd name="connsiteY6" fmla="*/ 663006 h 709696"/>
              <a:gd name="connsiteX7" fmla="*/ 65367 w 391928"/>
              <a:gd name="connsiteY7" fmla="*/ 234500 h 709696"/>
              <a:gd name="connsiteX8" fmla="*/ 0 w 391928"/>
              <a:gd name="connsiteY8" fmla="*/ 89913 h 709696"/>
              <a:gd name="connsiteX9" fmla="*/ 77670 w 391928"/>
              <a:gd name="connsiteY9" fmla="*/ 47755 h 70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1928" h="709696">
                <a:moveTo>
                  <a:pt x="135550" y="0"/>
                </a:moveTo>
                <a:lnTo>
                  <a:pt x="213310" y="172002"/>
                </a:lnTo>
                <a:cubicBezTo>
                  <a:pt x="274344" y="316302"/>
                  <a:pt x="328557" y="464190"/>
                  <a:pt x="375545" y="615260"/>
                </a:cubicBezTo>
                <a:lnTo>
                  <a:pt x="391928" y="672955"/>
                </a:lnTo>
                <a:lnTo>
                  <a:pt x="335492" y="678644"/>
                </a:lnTo>
                <a:lnTo>
                  <a:pt x="235461" y="709696"/>
                </a:lnTo>
                <a:lnTo>
                  <a:pt x="222202" y="663006"/>
                </a:lnTo>
                <a:cubicBezTo>
                  <a:pt x="176778" y="516963"/>
                  <a:pt x="124370" y="373998"/>
                  <a:pt x="65367" y="234500"/>
                </a:cubicBezTo>
                <a:lnTo>
                  <a:pt x="0" y="89913"/>
                </a:lnTo>
                <a:lnTo>
                  <a:pt x="77670" y="4775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2" name="Freeform 38">
            <a:extLst>
              <a:ext uri="{FF2B5EF4-FFF2-40B4-BE49-F238E27FC236}">
                <a16:creationId xmlns:a16="http://schemas.microsoft.com/office/drawing/2014/main" id="{F122F6D0-BCC4-B317-B0F2-97E65AA9B91B}"/>
              </a:ext>
            </a:extLst>
          </p:cNvPr>
          <p:cNvSpPr/>
          <p:nvPr userDrawn="1"/>
        </p:nvSpPr>
        <p:spPr>
          <a:xfrm>
            <a:off x="2102860" y="3942181"/>
            <a:ext cx="126362" cy="420344"/>
          </a:xfrm>
          <a:custGeom>
            <a:avLst/>
            <a:gdLst>
              <a:gd name="connsiteX0" fmla="*/ 159774 w 168482"/>
              <a:gd name="connsiteY0" fmla="*/ 0 h 560459"/>
              <a:gd name="connsiteX1" fmla="*/ 162205 w 168482"/>
              <a:gd name="connsiteY1" fmla="*/ 31959 h 560459"/>
              <a:gd name="connsiteX2" fmla="*/ 168482 w 168482"/>
              <a:gd name="connsiteY2" fmla="*/ 280229 h 560459"/>
              <a:gd name="connsiteX3" fmla="*/ 162205 w 168482"/>
              <a:gd name="connsiteY3" fmla="*/ 528499 h 560459"/>
              <a:gd name="connsiteX4" fmla="*/ 159774 w 168482"/>
              <a:gd name="connsiteY4" fmla="*/ 560459 h 560459"/>
              <a:gd name="connsiteX5" fmla="*/ 137402 w 168482"/>
              <a:gd name="connsiteY5" fmla="*/ 553514 h 560459"/>
              <a:gd name="connsiteX6" fmla="*/ 24465 w 168482"/>
              <a:gd name="connsiteY6" fmla="*/ 542129 h 560459"/>
              <a:gd name="connsiteX7" fmla="*/ 0 w 168482"/>
              <a:gd name="connsiteY7" fmla="*/ 544595 h 560459"/>
              <a:gd name="connsiteX8" fmla="*/ 1853 w 168482"/>
              <a:gd name="connsiteY8" fmla="*/ 520237 h 560459"/>
              <a:gd name="connsiteX9" fmla="*/ 7921 w 168482"/>
              <a:gd name="connsiteY9" fmla="*/ 280229 h 560459"/>
              <a:gd name="connsiteX10" fmla="*/ 1853 w 168482"/>
              <a:gd name="connsiteY10" fmla="*/ 40222 h 560459"/>
              <a:gd name="connsiteX11" fmla="*/ 0 w 168482"/>
              <a:gd name="connsiteY11" fmla="*/ 15863 h 560459"/>
              <a:gd name="connsiteX12" fmla="*/ 24465 w 168482"/>
              <a:gd name="connsiteY12" fmla="*/ 18329 h 560459"/>
              <a:gd name="connsiteX13" fmla="*/ 137402 w 168482"/>
              <a:gd name="connsiteY13" fmla="*/ 6944 h 560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8482" h="560459">
                <a:moveTo>
                  <a:pt x="159774" y="0"/>
                </a:moveTo>
                <a:lnTo>
                  <a:pt x="162205" y="31959"/>
                </a:lnTo>
                <a:cubicBezTo>
                  <a:pt x="166373" y="114190"/>
                  <a:pt x="168482" y="196963"/>
                  <a:pt x="168482" y="280229"/>
                </a:cubicBezTo>
                <a:cubicBezTo>
                  <a:pt x="168482" y="363495"/>
                  <a:pt x="166373" y="446269"/>
                  <a:pt x="162205" y="528499"/>
                </a:cubicBezTo>
                <a:lnTo>
                  <a:pt x="159774" y="560459"/>
                </a:lnTo>
                <a:lnTo>
                  <a:pt x="137402" y="553514"/>
                </a:lnTo>
                <a:cubicBezTo>
                  <a:pt x="100923" y="546049"/>
                  <a:pt x="63152" y="542129"/>
                  <a:pt x="24465" y="542129"/>
                </a:cubicBezTo>
                <a:lnTo>
                  <a:pt x="0" y="544595"/>
                </a:lnTo>
                <a:lnTo>
                  <a:pt x="1853" y="520237"/>
                </a:lnTo>
                <a:cubicBezTo>
                  <a:pt x="5882" y="440743"/>
                  <a:pt x="7921" y="360724"/>
                  <a:pt x="7921" y="280229"/>
                </a:cubicBezTo>
                <a:cubicBezTo>
                  <a:pt x="7921" y="199734"/>
                  <a:pt x="5882" y="119716"/>
                  <a:pt x="1853" y="40222"/>
                </a:cubicBezTo>
                <a:lnTo>
                  <a:pt x="0" y="15863"/>
                </a:lnTo>
                <a:lnTo>
                  <a:pt x="24465" y="18329"/>
                </a:lnTo>
                <a:cubicBezTo>
                  <a:pt x="63152" y="18329"/>
                  <a:pt x="100923" y="14409"/>
                  <a:pt x="137402" y="6944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3" name="Freeform 43">
            <a:extLst>
              <a:ext uri="{FF2B5EF4-FFF2-40B4-BE49-F238E27FC236}">
                <a16:creationId xmlns:a16="http://schemas.microsoft.com/office/drawing/2014/main" id="{0657396D-76F2-2DF6-EF61-ED49F66A6233}"/>
              </a:ext>
            </a:extLst>
          </p:cNvPr>
          <p:cNvSpPr/>
          <p:nvPr userDrawn="1"/>
        </p:nvSpPr>
        <p:spPr>
          <a:xfrm>
            <a:off x="1784893" y="5157528"/>
            <a:ext cx="293941" cy="531908"/>
          </a:xfrm>
          <a:custGeom>
            <a:avLst/>
            <a:gdLst>
              <a:gd name="connsiteX0" fmla="*/ 235454 w 391921"/>
              <a:gd name="connsiteY0" fmla="*/ 0 h 709210"/>
              <a:gd name="connsiteX1" fmla="*/ 335485 w 391921"/>
              <a:gd name="connsiteY1" fmla="*/ 31051 h 709210"/>
              <a:gd name="connsiteX2" fmla="*/ 391921 w 391921"/>
              <a:gd name="connsiteY2" fmla="*/ 36740 h 709210"/>
              <a:gd name="connsiteX3" fmla="*/ 375538 w 391921"/>
              <a:gd name="connsiteY3" fmla="*/ 94436 h 709210"/>
              <a:gd name="connsiteX4" fmla="*/ 166256 w 391921"/>
              <a:gd name="connsiteY4" fmla="*/ 645240 h 709210"/>
              <a:gd name="connsiteX5" fmla="*/ 134954 w 391921"/>
              <a:gd name="connsiteY5" fmla="*/ 709210 h 709210"/>
              <a:gd name="connsiteX6" fmla="*/ 77663 w 391921"/>
              <a:gd name="connsiteY6" fmla="*/ 661940 h 709210"/>
              <a:gd name="connsiteX7" fmla="*/ 0 w 391921"/>
              <a:gd name="connsiteY7" fmla="*/ 619786 h 709210"/>
              <a:gd name="connsiteX8" fmla="*/ 19878 w 391921"/>
              <a:gd name="connsiteY8" fmla="*/ 579163 h 709210"/>
              <a:gd name="connsiteX9" fmla="*/ 222195 w 391921"/>
              <a:gd name="connsiteY9" fmla="*/ 46690 h 709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1921" h="709210">
                <a:moveTo>
                  <a:pt x="235454" y="0"/>
                </a:moveTo>
                <a:lnTo>
                  <a:pt x="335485" y="31051"/>
                </a:lnTo>
                <a:lnTo>
                  <a:pt x="391921" y="36740"/>
                </a:lnTo>
                <a:lnTo>
                  <a:pt x="375538" y="94436"/>
                </a:lnTo>
                <a:cubicBezTo>
                  <a:pt x="316803" y="283275"/>
                  <a:pt x="246779" y="467139"/>
                  <a:pt x="166256" y="645240"/>
                </a:cubicBezTo>
                <a:lnTo>
                  <a:pt x="134954" y="709210"/>
                </a:lnTo>
                <a:lnTo>
                  <a:pt x="77663" y="661940"/>
                </a:lnTo>
                <a:lnTo>
                  <a:pt x="0" y="619786"/>
                </a:lnTo>
                <a:lnTo>
                  <a:pt x="19878" y="579163"/>
                </a:lnTo>
                <a:cubicBezTo>
                  <a:pt x="97722" y="406989"/>
                  <a:pt x="165415" y="229244"/>
                  <a:pt x="222195" y="4669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4" name="Freeform 46">
            <a:extLst>
              <a:ext uri="{FF2B5EF4-FFF2-40B4-BE49-F238E27FC236}">
                <a16:creationId xmlns:a16="http://schemas.microsoft.com/office/drawing/2014/main" id="{60A6FBB5-6B1F-1A78-6543-FF43D56489E4}"/>
              </a:ext>
            </a:extLst>
          </p:cNvPr>
          <p:cNvSpPr/>
          <p:nvPr userDrawn="1"/>
        </p:nvSpPr>
        <p:spPr>
          <a:xfrm>
            <a:off x="973882" y="6329978"/>
            <a:ext cx="478642" cy="401063"/>
          </a:xfrm>
          <a:custGeom>
            <a:avLst/>
            <a:gdLst>
              <a:gd name="connsiteX0" fmla="*/ 498399 w 638189"/>
              <a:gd name="connsiteY0" fmla="*/ 0 h 534751"/>
              <a:gd name="connsiteX1" fmla="*/ 532378 w 638189"/>
              <a:gd name="connsiteY1" fmla="*/ 28034 h 534751"/>
              <a:gd name="connsiteX2" fmla="*/ 627567 w 638189"/>
              <a:gd name="connsiteY2" fmla="*/ 79701 h 534751"/>
              <a:gd name="connsiteX3" fmla="*/ 638189 w 638189"/>
              <a:gd name="connsiteY3" fmla="*/ 82999 h 534751"/>
              <a:gd name="connsiteX4" fmla="*/ 459142 w 638189"/>
              <a:gd name="connsiteY4" fmla="*/ 297338 h 534751"/>
              <a:gd name="connsiteX5" fmla="*/ 260713 w 638189"/>
              <a:gd name="connsiteY5" fmla="*/ 507963 h 534751"/>
              <a:gd name="connsiteX6" fmla="*/ 232616 w 638189"/>
              <a:gd name="connsiteY6" fmla="*/ 534751 h 534751"/>
              <a:gd name="connsiteX7" fmla="*/ 0 w 638189"/>
              <a:gd name="connsiteY7" fmla="*/ 534751 h 534751"/>
              <a:gd name="connsiteX8" fmla="*/ 147179 w 638189"/>
              <a:gd name="connsiteY8" fmla="*/ 394429 h 534751"/>
              <a:gd name="connsiteX9" fmla="*/ 339004 w 638189"/>
              <a:gd name="connsiteY9" fmla="*/ 190813 h 53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8189" h="534751">
                <a:moveTo>
                  <a:pt x="498399" y="0"/>
                </a:moveTo>
                <a:lnTo>
                  <a:pt x="532378" y="28034"/>
                </a:lnTo>
                <a:cubicBezTo>
                  <a:pt x="562190" y="48175"/>
                  <a:pt x="594045" y="65523"/>
                  <a:pt x="627567" y="79701"/>
                </a:cubicBezTo>
                <a:lnTo>
                  <a:pt x="638189" y="82999"/>
                </a:lnTo>
                <a:lnTo>
                  <a:pt x="459142" y="297338"/>
                </a:lnTo>
                <a:cubicBezTo>
                  <a:pt x="395098" y="369513"/>
                  <a:pt x="328922" y="439755"/>
                  <a:pt x="260713" y="507963"/>
                </a:cubicBezTo>
                <a:lnTo>
                  <a:pt x="232616" y="534751"/>
                </a:lnTo>
                <a:lnTo>
                  <a:pt x="0" y="534751"/>
                </a:lnTo>
                <a:lnTo>
                  <a:pt x="147179" y="394429"/>
                </a:lnTo>
                <a:cubicBezTo>
                  <a:pt x="213118" y="328491"/>
                  <a:pt x="277091" y="260587"/>
                  <a:pt x="339004" y="190813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651D1BC-5AB7-AAF4-A9DD-B068586DE2C0}"/>
              </a:ext>
            </a:extLst>
          </p:cNvPr>
          <p:cNvSpPr/>
          <p:nvPr userDrawn="1"/>
        </p:nvSpPr>
        <p:spPr>
          <a:xfrm>
            <a:off x="1109495" y="1767554"/>
            <a:ext cx="1026114" cy="102611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8059552-76BC-12B8-17F7-BA442AB35F30}"/>
              </a:ext>
            </a:extLst>
          </p:cNvPr>
          <p:cNvSpPr/>
          <p:nvPr userDrawn="1"/>
        </p:nvSpPr>
        <p:spPr>
          <a:xfrm>
            <a:off x="1608152" y="3000981"/>
            <a:ext cx="1026114" cy="10261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3A69696-F1E2-7D27-BC6A-69C0173B28D4}"/>
              </a:ext>
            </a:extLst>
          </p:cNvPr>
          <p:cNvSpPr/>
          <p:nvPr userDrawn="1"/>
        </p:nvSpPr>
        <p:spPr>
          <a:xfrm>
            <a:off x="1593752" y="4313609"/>
            <a:ext cx="1026114" cy="102611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22DEDC3-37DF-DC51-3ED5-594B70CB5BD5}"/>
              </a:ext>
            </a:extLst>
          </p:cNvPr>
          <p:cNvSpPr/>
          <p:nvPr userDrawn="1"/>
        </p:nvSpPr>
        <p:spPr>
          <a:xfrm>
            <a:off x="1087895" y="5503835"/>
            <a:ext cx="1026114" cy="102611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8A96EDF-59EC-EB0D-EAE1-92B4CDFAC980}"/>
              </a:ext>
            </a:extLst>
          </p:cNvPr>
          <p:cNvSpPr/>
          <p:nvPr userDrawn="1"/>
        </p:nvSpPr>
        <p:spPr>
          <a:xfrm>
            <a:off x="1238097" y="1896156"/>
            <a:ext cx="768911" cy="768911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BDAAF5E-B916-24D6-333D-810506A43332}"/>
              </a:ext>
            </a:extLst>
          </p:cNvPr>
          <p:cNvSpPr/>
          <p:nvPr userDrawn="1"/>
        </p:nvSpPr>
        <p:spPr>
          <a:xfrm>
            <a:off x="1736754" y="3133819"/>
            <a:ext cx="768911" cy="768911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E1524A3-D083-0281-268F-15888A1E472A}"/>
              </a:ext>
            </a:extLst>
          </p:cNvPr>
          <p:cNvSpPr/>
          <p:nvPr userDrawn="1"/>
        </p:nvSpPr>
        <p:spPr>
          <a:xfrm>
            <a:off x="1722354" y="4437976"/>
            <a:ext cx="768911" cy="768911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F2F0E9C-32A9-1492-B8AD-8FCCE07D3E3B}"/>
              </a:ext>
            </a:extLst>
          </p:cNvPr>
          <p:cNvSpPr/>
          <p:nvPr userDrawn="1"/>
        </p:nvSpPr>
        <p:spPr>
          <a:xfrm>
            <a:off x="1222260" y="5632437"/>
            <a:ext cx="768911" cy="768911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4E9DC0B3-A19E-DBA0-6A6F-125C592679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52786" y="2100611"/>
            <a:ext cx="5400000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4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89"/>
            <a:r>
              <a:rPr lang="en-AU"/>
              <a:t>1. INTRODUCTION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DA0BECF4-2AF0-D26F-77BB-6593597B1A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98386" y="4642431"/>
            <a:ext cx="5400000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24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89"/>
            <a:r>
              <a:rPr lang="en-AU"/>
              <a:t>3. SECTION TITLE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E4289775-83FF-87F2-7C5B-664BBE7427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098386" y="3334038"/>
            <a:ext cx="5400000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24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89"/>
            <a:r>
              <a:rPr lang="en-AU"/>
              <a:t>2. SECTION TITLE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C322E1AE-D99B-0ED6-07A5-8422968780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52786" y="5836892"/>
            <a:ext cx="5400000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24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89"/>
            <a:r>
              <a:rPr lang="en-AU"/>
              <a:t>4. WHERE TO NEXT</a:t>
            </a:r>
          </a:p>
        </p:txBody>
      </p:sp>
    </p:spTree>
    <p:extLst>
      <p:ext uri="{BB962C8B-B14F-4D97-AF65-F5344CB8AC3E}">
        <p14:creationId xmlns:p14="http://schemas.microsoft.com/office/powerpoint/2010/main" val="2681847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age - 5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err="1"/>
              <a:t>AgenDa</a:t>
            </a:r>
            <a:r>
              <a:rPr lang="en-US"/>
              <a:t> PAGE – 5 SECTIONS </a:t>
            </a:r>
            <a:endParaRPr lang="en-AU"/>
          </a:p>
        </p:txBody>
      </p:sp>
      <p:sp>
        <p:nvSpPr>
          <p:cNvPr id="4" name="Rectangle 3"/>
          <p:cNvSpPr/>
          <p:nvPr userDrawn="1"/>
        </p:nvSpPr>
        <p:spPr>
          <a:xfrm>
            <a:off x="878921" y="1484340"/>
            <a:ext cx="1131314" cy="900000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endParaRPr lang="en-AU" sz="4022" b="1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880800" y="2583402"/>
            <a:ext cx="1131314" cy="900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endParaRPr lang="en-AU" sz="4022" b="1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78846" y="3677106"/>
            <a:ext cx="1131314" cy="900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endParaRPr lang="en-AU" sz="4022" b="1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78846" y="4781583"/>
            <a:ext cx="1131314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endParaRPr lang="en-AU" sz="4022" b="1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881272" y="5880843"/>
            <a:ext cx="1131314" cy="900000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endParaRPr lang="en-AU" sz="4022" b="1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>
            <a:cxnSpLocks/>
          </p:cNvCxnSpPr>
          <p:nvPr userDrawn="1"/>
        </p:nvCxnSpPr>
        <p:spPr>
          <a:xfrm>
            <a:off x="2291816" y="1844255"/>
            <a:ext cx="5158792" cy="0"/>
          </a:xfrm>
          <a:prstGeom prst="line">
            <a:avLst/>
          </a:prstGeom>
          <a:ln w="9525">
            <a:solidFill>
              <a:schemeClr val="tx1">
                <a:lumMod val="40000"/>
                <a:lumOff val="60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2291816" y="1484255"/>
            <a:ext cx="5204044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INTRODUCTION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2291816" y="1931645"/>
            <a:ext cx="5204044" cy="42200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AU" sz="1760" b="0" baseline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defTabSz="1188857"/>
            <a:r>
              <a:rPr lang="en-AU"/>
              <a:t>Background  |  Vision  |  Objectives</a:t>
            </a:r>
          </a:p>
        </p:txBody>
      </p:sp>
      <p:cxnSp>
        <p:nvCxnSpPr>
          <p:cNvPr id="23" name="Straight Connector 22"/>
          <p:cNvCxnSpPr>
            <a:cxnSpLocks/>
          </p:cNvCxnSpPr>
          <p:nvPr userDrawn="1"/>
        </p:nvCxnSpPr>
        <p:spPr>
          <a:xfrm>
            <a:off x="2291816" y="4041723"/>
            <a:ext cx="5158792" cy="0"/>
          </a:xfrm>
          <a:prstGeom prst="line">
            <a:avLst/>
          </a:prstGeom>
          <a:ln w="9525">
            <a:solidFill>
              <a:schemeClr val="tx1">
                <a:lumMod val="40000"/>
                <a:lumOff val="60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18"/>
          <p:cNvSpPr>
            <a:spLocks noGrp="1"/>
          </p:cNvSpPr>
          <p:nvPr>
            <p:ph type="body" sz="quarter" idx="21" hasCustomPrompt="1"/>
          </p:nvPr>
        </p:nvSpPr>
        <p:spPr>
          <a:xfrm>
            <a:off x="2291816" y="3681723"/>
            <a:ext cx="5204044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25" name="Text Placeholder 18"/>
          <p:cNvSpPr>
            <a:spLocks noGrp="1"/>
          </p:cNvSpPr>
          <p:nvPr>
            <p:ph type="body" sz="quarter" idx="22" hasCustomPrompt="1"/>
          </p:nvPr>
        </p:nvSpPr>
        <p:spPr>
          <a:xfrm>
            <a:off x="2291816" y="4148166"/>
            <a:ext cx="5204044" cy="42200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AU" sz="1760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defTabSz="1188857"/>
            <a:r>
              <a:rPr lang="en-AU"/>
              <a:t>3-5 keywords</a:t>
            </a:r>
          </a:p>
        </p:txBody>
      </p:sp>
      <p:cxnSp>
        <p:nvCxnSpPr>
          <p:cNvPr id="26" name="Straight Connector 25"/>
          <p:cNvCxnSpPr>
            <a:cxnSpLocks/>
          </p:cNvCxnSpPr>
          <p:nvPr userDrawn="1"/>
        </p:nvCxnSpPr>
        <p:spPr>
          <a:xfrm>
            <a:off x="2291816" y="6258329"/>
            <a:ext cx="5158792" cy="0"/>
          </a:xfrm>
          <a:prstGeom prst="line">
            <a:avLst/>
          </a:prstGeom>
          <a:ln w="9525">
            <a:solidFill>
              <a:schemeClr val="tx1">
                <a:lumMod val="40000"/>
                <a:lumOff val="60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8"/>
          <p:cNvSpPr>
            <a:spLocks noGrp="1"/>
          </p:cNvSpPr>
          <p:nvPr>
            <p:ph type="body" sz="quarter" idx="23" hasCustomPrompt="1"/>
          </p:nvPr>
        </p:nvSpPr>
        <p:spPr>
          <a:xfrm>
            <a:off x="2291816" y="5898329"/>
            <a:ext cx="5204044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28" name="Text Placeholder 18"/>
          <p:cNvSpPr>
            <a:spLocks noGrp="1"/>
          </p:cNvSpPr>
          <p:nvPr>
            <p:ph type="body" sz="quarter" idx="24" hasCustomPrompt="1"/>
          </p:nvPr>
        </p:nvSpPr>
        <p:spPr>
          <a:xfrm>
            <a:off x="2291816" y="6364772"/>
            <a:ext cx="5204044" cy="42200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AU" sz="1760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defTabSz="1188857"/>
            <a:r>
              <a:rPr lang="en-AU"/>
              <a:t>3-5 keywords</a:t>
            </a:r>
          </a:p>
        </p:txBody>
      </p:sp>
      <p:cxnSp>
        <p:nvCxnSpPr>
          <p:cNvPr id="29" name="Straight Connector 28"/>
          <p:cNvCxnSpPr>
            <a:cxnSpLocks/>
          </p:cNvCxnSpPr>
          <p:nvPr userDrawn="1"/>
        </p:nvCxnSpPr>
        <p:spPr>
          <a:xfrm>
            <a:off x="2291816" y="2984165"/>
            <a:ext cx="5158792" cy="0"/>
          </a:xfrm>
          <a:prstGeom prst="line">
            <a:avLst/>
          </a:prstGeom>
          <a:ln w="9525">
            <a:solidFill>
              <a:schemeClr val="tx1">
                <a:lumMod val="40000"/>
                <a:lumOff val="60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8"/>
          <p:cNvSpPr>
            <a:spLocks noGrp="1"/>
          </p:cNvSpPr>
          <p:nvPr>
            <p:ph type="body" sz="quarter" idx="25" hasCustomPrompt="1"/>
          </p:nvPr>
        </p:nvSpPr>
        <p:spPr>
          <a:xfrm>
            <a:off x="2291816" y="2624165"/>
            <a:ext cx="5204044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31" name="Text Placeholder 18"/>
          <p:cNvSpPr>
            <a:spLocks noGrp="1"/>
          </p:cNvSpPr>
          <p:nvPr>
            <p:ph type="body" sz="quarter" idx="26" hasCustomPrompt="1"/>
          </p:nvPr>
        </p:nvSpPr>
        <p:spPr>
          <a:xfrm>
            <a:off x="2291816" y="3090608"/>
            <a:ext cx="5204044" cy="42200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AU" sz="1760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defTabSz="1188857"/>
            <a:r>
              <a:rPr lang="en-AU"/>
              <a:t>3-5 keywords</a:t>
            </a:r>
          </a:p>
        </p:txBody>
      </p:sp>
      <p:cxnSp>
        <p:nvCxnSpPr>
          <p:cNvPr id="32" name="Straight Connector 31"/>
          <p:cNvCxnSpPr>
            <a:cxnSpLocks/>
          </p:cNvCxnSpPr>
          <p:nvPr userDrawn="1"/>
        </p:nvCxnSpPr>
        <p:spPr>
          <a:xfrm>
            <a:off x="2291816" y="5122445"/>
            <a:ext cx="5158792" cy="0"/>
          </a:xfrm>
          <a:prstGeom prst="line">
            <a:avLst/>
          </a:prstGeom>
          <a:ln w="9525">
            <a:solidFill>
              <a:schemeClr val="tx1">
                <a:lumMod val="40000"/>
                <a:lumOff val="60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18"/>
          <p:cNvSpPr>
            <a:spLocks noGrp="1"/>
          </p:cNvSpPr>
          <p:nvPr>
            <p:ph type="body" sz="quarter" idx="27" hasCustomPrompt="1"/>
          </p:nvPr>
        </p:nvSpPr>
        <p:spPr>
          <a:xfrm>
            <a:off x="2291816" y="4762445"/>
            <a:ext cx="5204044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34" name="Text Placeholder 18"/>
          <p:cNvSpPr>
            <a:spLocks noGrp="1"/>
          </p:cNvSpPr>
          <p:nvPr>
            <p:ph type="body" sz="quarter" idx="28" hasCustomPrompt="1"/>
          </p:nvPr>
        </p:nvSpPr>
        <p:spPr>
          <a:xfrm>
            <a:off x="2291816" y="5228888"/>
            <a:ext cx="5204044" cy="42200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AU" sz="1760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defTabSz="1188857"/>
            <a:r>
              <a:rPr lang="en-AU"/>
              <a:t>3-5 keywords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1561915" y="1491961"/>
            <a:ext cx="678788" cy="90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r" defTabSz="1188857">
              <a:defRPr/>
            </a:pPr>
            <a:r>
              <a:rPr lang="en-AU" sz="66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Rectangle 36"/>
          <p:cNvSpPr/>
          <p:nvPr userDrawn="1"/>
        </p:nvSpPr>
        <p:spPr>
          <a:xfrm>
            <a:off x="1461785" y="2578689"/>
            <a:ext cx="678788" cy="90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r" defTabSz="1188857">
              <a:defRPr/>
            </a:pPr>
            <a:r>
              <a:rPr lang="en-AU" sz="66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8" name="Rectangle 37"/>
          <p:cNvSpPr/>
          <p:nvPr userDrawn="1"/>
        </p:nvSpPr>
        <p:spPr>
          <a:xfrm>
            <a:off x="1462729" y="3681350"/>
            <a:ext cx="678788" cy="90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r" defTabSz="1188857">
              <a:defRPr/>
            </a:pPr>
            <a:r>
              <a:rPr lang="en-AU" sz="6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9" name="Rectangle 38"/>
          <p:cNvSpPr/>
          <p:nvPr userDrawn="1"/>
        </p:nvSpPr>
        <p:spPr>
          <a:xfrm>
            <a:off x="1428128" y="4788823"/>
            <a:ext cx="678788" cy="90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r" defTabSz="1188857">
              <a:defRPr/>
            </a:pPr>
            <a:r>
              <a:rPr lang="en-AU" sz="66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0" name="Rectangle 39"/>
          <p:cNvSpPr/>
          <p:nvPr userDrawn="1"/>
        </p:nvSpPr>
        <p:spPr>
          <a:xfrm>
            <a:off x="1453607" y="5884901"/>
            <a:ext cx="678788" cy="90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r" defTabSz="1188857">
              <a:defRPr/>
            </a:pPr>
            <a:r>
              <a:rPr lang="en-AU" sz="6600" b="1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15444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age - 6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err="1"/>
              <a:t>AgenDa</a:t>
            </a:r>
            <a:r>
              <a:rPr lang="en-US"/>
              <a:t> PAGE – 6 SECTIONS </a:t>
            </a:r>
            <a:endParaRPr lang="en-AU"/>
          </a:p>
        </p:txBody>
      </p:sp>
      <p:sp>
        <p:nvSpPr>
          <p:cNvPr id="30" name="Text Placeholder 18"/>
          <p:cNvSpPr>
            <a:spLocks noGrp="1"/>
          </p:cNvSpPr>
          <p:nvPr>
            <p:ph type="body" sz="quarter" idx="25" hasCustomPrompt="1"/>
          </p:nvPr>
        </p:nvSpPr>
        <p:spPr>
          <a:xfrm>
            <a:off x="1945086" y="1829333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31" name="Text Placeholder 18"/>
          <p:cNvSpPr>
            <a:spLocks noGrp="1"/>
          </p:cNvSpPr>
          <p:nvPr>
            <p:ph type="body" sz="quarter" idx="26" hasCustomPrompt="1"/>
          </p:nvPr>
        </p:nvSpPr>
        <p:spPr>
          <a:xfrm>
            <a:off x="1945086" y="2291596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201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836120" y="1823238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AU" sz="6000" b="1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7" name="Rectangle 36"/>
          <p:cNvSpPr/>
          <p:nvPr userDrawn="1"/>
        </p:nvSpPr>
        <p:spPr>
          <a:xfrm>
            <a:off x="836120" y="3481062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AU" sz="6000" b="1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8" name="Rectangle 37"/>
          <p:cNvSpPr/>
          <p:nvPr userDrawn="1"/>
        </p:nvSpPr>
        <p:spPr>
          <a:xfrm>
            <a:off x="836120" y="5138887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AU" sz="6000" b="1">
                <a:solidFill>
                  <a:schemeClr val="tx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 flipH="1">
            <a:off x="1742031" y="1823238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8"/>
          <p:cNvSpPr>
            <a:spLocks noGrp="1"/>
          </p:cNvSpPr>
          <p:nvPr>
            <p:ph type="body" sz="quarter" idx="27" hasCustomPrompt="1"/>
          </p:nvPr>
        </p:nvSpPr>
        <p:spPr>
          <a:xfrm>
            <a:off x="1945086" y="3501844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43" name="Text Placeholder 18"/>
          <p:cNvSpPr>
            <a:spLocks noGrp="1"/>
          </p:cNvSpPr>
          <p:nvPr>
            <p:ph type="body" sz="quarter" idx="28" hasCustomPrompt="1"/>
          </p:nvPr>
        </p:nvSpPr>
        <p:spPr>
          <a:xfrm>
            <a:off x="1945086" y="3964107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201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 flipH="1">
            <a:off x="1742031" y="3495749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Placeholder 18"/>
          <p:cNvSpPr>
            <a:spLocks noGrp="1"/>
          </p:cNvSpPr>
          <p:nvPr>
            <p:ph type="body" sz="quarter" idx="29" hasCustomPrompt="1"/>
          </p:nvPr>
        </p:nvSpPr>
        <p:spPr>
          <a:xfrm>
            <a:off x="1945086" y="5144982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49" name="Text Placeholder 18"/>
          <p:cNvSpPr>
            <a:spLocks noGrp="1"/>
          </p:cNvSpPr>
          <p:nvPr>
            <p:ph type="body" sz="quarter" idx="30" hasCustomPrompt="1"/>
          </p:nvPr>
        </p:nvSpPr>
        <p:spPr>
          <a:xfrm>
            <a:off x="1945086" y="5607245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201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50" name="Straight Connector 49"/>
          <p:cNvCxnSpPr/>
          <p:nvPr userDrawn="1"/>
        </p:nvCxnSpPr>
        <p:spPr>
          <a:xfrm flipH="1">
            <a:off x="1742031" y="5138887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Placeholder 18"/>
          <p:cNvSpPr>
            <a:spLocks noGrp="1"/>
          </p:cNvSpPr>
          <p:nvPr>
            <p:ph type="body" sz="quarter" idx="31" hasCustomPrompt="1"/>
          </p:nvPr>
        </p:nvSpPr>
        <p:spPr>
          <a:xfrm>
            <a:off x="8078399" y="1840396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52" name="Text Placeholder 18"/>
          <p:cNvSpPr>
            <a:spLocks noGrp="1"/>
          </p:cNvSpPr>
          <p:nvPr>
            <p:ph type="body" sz="quarter" idx="32" hasCustomPrompt="1"/>
          </p:nvPr>
        </p:nvSpPr>
        <p:spPr>
          <a:xfrm>
            <a:off x="8078399" y="2302659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201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sp>
        <p:nvSpPr>
          <p:cNvPr id="53" name="Rectangle 52"/>
          <p:cNvSpPr/>
          <p:nvPr userDrawn="1"/>
        </p:nvSpPr>
        <p:spPr>
          <a:xfrm>
            <a:off x="6979875" y="1834301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AU" sz="6000" b="1">
                <a:solidFill>
                  <a:schemeClr val="accent3"/>
                </a:solidFill>
              </a:rPr>
              <a:t>4</a:t>
            </a:r>
          </a:p>
        </p:txBody>
      </p:sp>
      <p:sp>
        <p:nvSpPr>
          <p:cNvPr id="54" name="Rectangle 53"/>
          <p:cNvSpPr/>
          <p:nvPr userDrawn="1"/>
        </p:nvSpPr>
        <p:spPr>
          <a:xfrm>
            <a:off x="6979875" y="3492125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AU" sz="6000" b="1">
                <a:solidFill>
                  <a:schemeClr val="accent3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55" name="Rectangle 54"/>
          <p:cNvSpPr/>
          <p:nvPr userDrawn="1"/>
        </p:nvSpPr>
        <p:spPr>
          <a:xfrm>
            <a:off x="6979875" y="5149950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AU" sz="6000" b="1">
                <a:solidFill>
                  <a:schemeClr val="accent3">
                    <a:lumMod val="50000"/>
                  </a:schemeClr>
                </a:solidFill>
              </a:rPr>
              <a:t>6</a:t>
            </a:r>
          </a:p>
        </p:txBody>
      </p:sp>
      <p:cxnSp>
        <p:nvCxnSpPr>
          <p:cNvPr id="56" name="Straight Connector 55"/>
          <p:cNvCxnSpPr/>
          <p:nvPr userDrawn="1"/>
        </p:nvCxnSpPr>
        <p:spPr>
          <a:xfrm flipH="1">
            <a:off x="7875344" y="1834301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8"/>
          <p:cNvSpPr>
            <a:spLocks noGrp="1"/>
          </p:cNvSpPr>
          <p:nvPr>
            <p:ph type="body" sz="quarter" idx="33" hasCustomPrompt="1"/>
          </p:nvPr>
        </p:nvSpPr>
        <p:spPr>
          <a:xfrm>
            <a:off x="8078399" y="3512907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58" name="Text Placeholder 18"/>
          <p:cNvSpPr>
            <a:spLocks noGrp="1"/>
          </p:cNvSpPr>
          <p:nvPr>
            <p:ph type="body" sz="quarter" idx="34" hasCustomPrompt="1"/>
          </p:nvPr>
        </p:nvSpPr>
        <p:spPr>
          <a:xfrm>
            <a:off x="8078399" y="3975170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201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59" name="Straight Connector 58"/>
          <p:cNvCxnSpPr/>
          <p:nvPr userDrawn="1"/>
        </p:nvCxnSpPr>
        <p:spPr>
          <a:xfrm flipH="1">
            <a:off x="7875344" y="3506812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Placeholder 18"/>
          <p:cNvSpPr>
            <a:spLocks noGrp="1"/>
          </p:cNvSpPr>
          <p:nvPr>
            <p:ph type="body" sz="quarter" idx="35" hasCustomPrompt="1"/>
          </p:nvPr>
        </p:nvSpPr>
        <p:spPr>
          <a:xfrm>
            <a:off x="8078399" y="5156045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2514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61" name="Text Placeholder 18"/>
          <p:cNvSpPr>
            <a:spLocks noGrp="1"/>
          </p:cNvSpPr>
          <p:nvPr>
            <p:ph type="body" sz="quarter" idx="36" hasCustomPrompt="1"/>
          </p:nvPr>
        </p:nvSpPr>
        <p:spPr>
          <a:xfrm>
            <a:off x="8078399" y="5618308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201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62" name="Straight Connector 61"/>
          <p:cNvCxnSpPr/>
          <p:nvPr userDrawn="1"/>
        </p:nvCxnSpPr>
        <p:spPr>
          <a:xfrm flipH="1">
            <a:off x="7875344" y="5149950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81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age - 8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err="1"/>
              <a:t>AgenDa</a:t>
            </a:r>
            <a:r>
              <a:rPr lang="en-US"/>
              <a:t> PAGE – 8 SECTIONS </a:t>
            </a:r>
            <a:endParaRPr lang="en-AU"/>
          </a:p>
        </p:txBody>
      </p:sp>
      <p:sp>
        <p:nvSpPr>
          <p:cNvPr id="30" name="Text Placeholder 18"/>
          <p:cNvSpPr>
            <a:spLocks noGrp="1"/>
          </p:cNvSpPr>
          <p:nvPr>
            <p:ph type="body" sz="quarter" idx="25" hasCustomPrompt="1"/>
          </p:nvPr>
        </p:nvSpPr>
        <p:spPr>
          <a:xfrm>
            <a:off x="1945085" y="1326067"/>
            <a:ext cx="4525256" cy="35999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18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95"/>
            <a:r>
              <a:rPr lang="en-AU"/>
              <a:t>SECTION TITLE</a:t>
            </a:r>
          </a:p>
        </p:txBody>
      </p:sp>
      <p:sp>
        <p:nvSpPr>
          <p:cNvPr id="31" name="Text Placeholder 18"/>
          <p:cNvSpPr>
            <a:spLocks noGrp="1"/>
          </p:cNvSpPr>
          <p:nvPr>
            <p:ph type="body" sz="quarter" idx="26" hasCustomPrompt="1"/>
          </p:nvPr>
        </p:nvSpPr>
        <p:spPr>
          <a:xfrm>
            <a:off x="1945085" y="1788330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60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945795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836120" y="1319971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/>
          <a:p>
            <a:pPr algn="ctr" defTabSz="945795">
              <a:defRPr/>
            </a:pPr>
            <a:r>
              <a:rPr lang="en-AU" sz="6000" b="1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7" name="Rectangle 36"/>
          <p:cNvSpPr/>
          <p:nvPr userDrawn="1"/>
        </p:nvSpPr>
        <p:spPr>
          <a:xfrm>
            <a:off x="836120" y="2765155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/>
          <a:p>
            <a:pPr algn="ctr" defTabSz="945795">
              <a:defRPr/>
            </a:pPr>
            <a:r>
              <a:rPr lang="en-AU" sz="6000" b="1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8" name="Rectangle 37"/>
          <p:cNvSpPr/>
          <p:nvPr userDrawn="1"/>
        </p:nvSpPr>
        <p:spPr>
          <a:xfrm>
            <a:off x="836120" y="4281220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/>
          <a:p>
            <a:pPr algn="ctr" defTabSz="945795">
              <a:defRPr/>
            </a:pPr>
            <a:r>
              <a:rPr lang="en-AU" sz="6000" b="1">
                <a:solidFill>
                  <a:schemeClr val="tx2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 flipH="1">
            <a:off x="1742032" y="1319971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8"/>
          <p:cNvSpPr>
            <a:spLocks noGrp="1"/>
          </p:cNvSpPr>
          <p:nvPr>
            <p:ph type="body" sz="quarter" idx="27" hasCustomPrompt="1"/>
          </p:nvPr>
        </p:nvSpPr>
        <p:spPr>
          <a:xfrm>
            <a:off x="1945085" y="2785938"/>
            <a:ext cx="4525256" cy="35999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18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95"/>
            <a:r>
              <a:rPr lang="en-AU"/>
              <a:t>SECTION TITLE</a:t>
            </a:r>
          </a:p>
        </p:txBody>
      </p:sp>
      <p:sp>
        <p:nvSpPr>
          <p:cNvPr id="43" name="Text Placeholder 18"/>
          <p:cNvSpPr>
            <a:spLocks noGrp="1"/>
          </p:cNvSpPr>
          <p:nvPr>
            <p:ph type="body" sz="quarter" idx="28" hasCustomPrompt="1"/>
          </p:nvPr>
        </p:nvSpPr>
        <p:spPr>
          <a:xfrm>
            <a:off x="1945085" y="3248200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60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945795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 flipH="1">
            <a:off x="1742032" y="2779842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Placeholder 18"/>
          <p:cNvSpPr>
            <a:spLocks noGrp="1"/>
          </p:cNvSpPr>
          <p:nvPr>
            <p:ph type="body" sz="quarter" idx="29" hasCustomPrompt="1"/>
          </p:nvPr>
        </p:nvSpPr>
        <p:spPr>
          <a:xfrm>
            <a:off x="1945085" y="4287316"/>
            <a:ext cx="4525256" cy="35999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18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95"/>
            <a:r>
              <a:rPr lang="en-AU"/>
              <a:t>SECTION TITLE</a:t>
            </a:r>
          </a:p>
        </p:txBody>
      </p:sp>
      <p:sp>
        <p:nvSpPr>
          <p:cNvPr id="49" name="Text Placeholder 18"/>
          <p:cNvSpPr>
            <a:spLocks noGrp="1"/>
          </p:cNvSpPr>
          <p:nvPr>
            <p:ph type="body" sz="quarter" idx="30" hasCustomPrompt="1"/>
          </p:nvPr>
        </p:nvSpPr>
        <p:spPr>
          <a:xfrm>
            <a:off x="1945085" y="4749578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60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945795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50" name="Straight Connector 49"/>
          <p:cNvCxnSpPr/>
          <p:nvPr userDrawn="1"/>
        </p:nvCxnSpPr>
        <p:spPr>
          <a:xfrm flipH="1">
            <a:off x="1742032" y="4281220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Placeholder 18"/>
          <p:cNvSpPr>
            <a:spLocks noGrp="1"/>
          </p:cNvSpPr>
          <p:nvPr>
            <p:ph type="body" sz="quarter" idx="31" hasCustomPrompt="1"/>
          </p:nvPr>
        </p:nvSpPr>
        <p:spPr>
          <a:xfrm>
            <a:off x="8078399" y="1337130"/>
            <a:ext cx="4525256" cy="35999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18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95"/>
            <a:r>
              <a:rPr lang="en-AU"/>
              <a:t>SECTION TITLE</a:t>
            </a:r>
          </a:p>
        </p:txBody>
      </p:sp>
      <p:sp>
        <p:nvSpPr>
          <p:cNvPr id="52" name="Text Placeholder 18"/>
          <p:cNvSpPr>
            <a:spLocks noGrp="1"/>
          </p:cNvSpPr>
          <p:nvPr>
            <p:ph type="body" sz="quarter" idx="32" hasCustomPrompt="1"/>
          </p:nvPr>
        </p:nvSpPr>
        <p:spPr>
          <a:xfrm>
            <a:off x="8078399" y="1799393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60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945795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sp>
        <p:nvSpPr>
          <p:cNvPr id="53" name="Rectangle 52"/>
          <p:cNvSpPr/>
          <p:nvPr userDrawn="1"/>
        </p:nvSpPr>
        <p:spPr>
          <a:xfrm>
            <a:off x="6979875" y="1331034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/>
          <a:p>
            <a:pPr algn="ctr" defTabSz="945795">
              <a:defRPr/>
            </a:pPr>
            <a:r>
              <a:rPr lang="en-AU" sz="6000" b="1">
                <a:solidFill>
                  <a:srgbClr val="6A4983"/>
                </a:solidFill>
              </a:rPr>
              <a:t>5</a:t>
            </a:r>
          </a:p>
        </p:txBody>
      </p:sp>
      <p:sp>
        <p:nvSpPr>
          <p:cNvPr id="54" name="Rectangle 53"/>
          <p:cNvSpPr/>
          <p:nvPr userDrawn="1"/>
        </p:nvSpPr>
        <p:spPr>
          <a:xfrm>
            <a:off x="6979875" y="2776218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/>
          <a:p>
            <a:pPr algn="ctr" defTabSz="945795">
              <a:defRPr/>
            </a:pPr>
            <a:r>
              <a:rPr lang="en-AU" sz="6000" b="1">
                <a:solidFill>
                  <a:schemeClr val="accent3"/>
                </a:solidFill>
              </a:rPr>
              <a:t>6</a:t>
            </a:r>
          </a:p>
        </p:txBody>
      </p:sp>
      <p:sp>
        <p:nvSpPr>
          <p:cNvPr id="55" name="Rectangle 54"/>
          <p:cNvSpPr/>
          <p:nvPr userDrawn="1"/>
        </p:nvSpPr>
        <p:spPr>
          <a:xfrm>
            <a:off x="6979875" y="4292282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/>
          <a:p>
            <a:pPr algn="ctr" defTabSz="945795">
              <a:defRPr/>
            </a:pPr>
            <a:r>
              <a:rPr lang="en-AU" sz="6000" b="1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cxnSp>
        <p:nvCxnSpPr>
          <p:cNvPr id="56" name="Straight Connector 55"/>
          <p:cNvCxnSpPr/>
          <p:nvPr userDrawn="1"/>
        </p:nvCxnSpPr>
        <p:spPr>
          <a:xfrm flipH="1">
            <a:off x="7875344" y="1331034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8"/>
          <p:cNvSpPr>
            <a:spLocks noGrp="1"/>
          </p:cNvSpPr>
          <p:nvPr>
            <p:ph type="body" sz="quarter" idx="33" hasCustomPrompt="1"/>
          </p:nvPr>
        </p:nvSpPr>
        <p:spPr>
          <a:xfrm>
            <a:off x="8078399" y="2797001"/>
            <a:ext cx="4525256" cy="35999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18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95"/>
            <a:r>
              <a:rPr lang="en-AU"/>
              <a:t>SECTION TITLE</a:t>
            </a:r>
          </a:p>
        </p:txBody>
      </p:sp>
      <p:sp>
        <p:nvSpPr>
          <p:cNvPr id="58" name="Text Placeholder 18"/>
          <p:cNvSpPr>
            <a:spLocks noGrp="1"/>
          </p:cNvSpPr>
          <p:nvPr>
            <p:ph type="body" sz="quarter" idx="34" hasCustomPrompt="1"/>
          </p:nvPr>
        </p:nvSpPr>
        <p:spPr>
          <a:xfrm>
            <a:off x="8078399" y="3259263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60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945795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59" name="Straight Connector 58"/>
          <p:cNvCxnSpPr/>
          <p:nvPr userDrawn="1"/>
        </p:nvCxnSpPr>
        <p:spPr>
          <a:xfrm flipH="1">
            <a:off x="7875344" y="2790905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Placeholder 18"/>
          <p:cNvSpPr>
            <a:spLocks noGrp="1"/>
          </p:cNvSpPr>
          <p:nvPr>
            <p:ph type="body" sz="quarter" idx="35" hasCustomPrompt="1"/>
          </p:nvPr>
        </p:nvSpPr>
        <p:spPr>
          <a:xfrm>
            <a:off x="8078399" y="4298379"/>
            <a:ext cx="4525256" cy="35999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18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95"/>
            <a:r>
              <a:rPr lang="en-AU"/>
              <a:t>SECTION TITLE</a:t>
            </a:r>
          </a:p>
        </p:txBody>
      </p:sp>
      <p:sp>
        <p:nvSpPr>
          <p:cNvPr id="61" name="Text Placeholder 18"/>
          <p:cNvSpPr>
            <a:spLocks noGrp="1"/>
          </p:cNvSpPr>
          <p:nvPr>
            <p:ph type="body" sz="quarter" idx="36" hasCustomPrompt="1"/>
          </p:nvPr>
        </p:nvSpPr>
        <p:spPr>
          <a:xfrm>
            <a:off x="8078399" y="4760641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60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945795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62" name="Straight Connector 61"/>
          <p:cNvCxnSpPr/>
          <p:nvPr userDrawn="1"/>
        </p:nvCxnSpPr>
        <p:spPr>
          <a:xfrm flipH="1">
            <a:off x="7875344" y="4292282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E7D8DD3-07A4-4248-83ED-26350E2B27F4}"/>
              </a:ext>
            </a:extLst>
          </p:cNvPr>
          <p:cNvSpPr/>
          <p:nvPr userDrawn="1"/>
        </p:nvSpPr>
        <p:spPr>
          <a:xfrm>
            <a:off x="836120" y="5693609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/>
          <a:p>
            <a:pPr algn="ctr" defTabSz="945795">
              <a:defRPr/>
            </a:pPr>
            <a:r>
              <a:rPr lang="en-AU" sz="6000" b="1">
                <a:solidFill>
                  <a:schemeClr val="tx2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10F3840-608B-4123-BB78-25A0E66371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45085" y="5699705"/>
            <a:ext cx="4525256" cy="35999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18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95"/>
            <a:r>
              <a:rPr lang="en-AU"/>
              <a:t>SECTION 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3337FCDB-096C-4C84-A3C4-FDEBA32A304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45085" y="6161968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60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945795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9EF6DFD-DFBA-4E4F-B220-769895C7EA2A}"/>
              </a:ext>
            </a:extLst>
          </p:cNvPr>
          <p:cNvCxnSpPr/>
          <p:nvPr userDrawn="1"/>
        </p:nvCxnSpPr>
        <p:spPr>
          <a:xfrm flipH="1">
            <a:off x="1742032" y="5693609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4602A16-1910-498E-93DC-13FFC2E1CA24}"/>
              </a:ext>
            </a:extLst>
          </p:cNvPr>
          <p:cNvSpPr/>
          <p:nvPr userDrawn="1"/>
        </p:nvSpPr>
        <p:spPr>
          <a:xfrm>
            <a:off x="6979875" y="5704672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/>
          <a:p>
            <a:pPr algn="ctr" defTabSz="945795">
              <a:defRPr/>
            </a:pPr>
            <a:r>
              <a:rPr lang="en-AU" sz="6000" b="1">
                <a:solidFill>
                  <a:schemeClr val="accent3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FC5C59B9-12E8-4F52-B16F-7946F8C8912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78399" y="5710768"/>
            <a:ext cx="4525256" cy="35999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>
            <a:noAutofit/>
          </a:bodyPr>
          <a:lstStyle>
            <a:lvl1pPr marL="0" indent="0">
              <a:buNone/>
              <a:defRPr lang="en-AU" sz="180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945795"/>
            <a:r>
              <a:rPr lang="en-AU"/>
              <a:t>SECTION TITLE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F5BF121C-D62E-490E-8430-1C28AA1A659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78399" y="6173031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601" b="0" dirty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defTabSz="945795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3E9A232-3312-4CD8-9B54-7DD10F20143B}"/>
              </a:ext>
            </a:extLst>
          </p:cNvPr>
          <p:cNvCxnSpPr/>
          <p:nvPr userDrawn="1"/>
        </p:nvCxnSpPr>
        <p:spPr>
          <a:xfrm flipH="1">
            <a:off x="7875344" y="5704672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511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BLANK PAGE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9785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And contents</a:t>
            </a:r>
            <a:endParaRPr lang="en-AU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836121" y="1454727"/>
            <a:ext cx="11761126" cy="5381184"/>
          </a:xfrm>
          <a:prstGeom prst="rect">
            <a:avLst/>
          </a:prstGeom>
        </p:spPr>
        <p:txBody>
          <a:bodyPr tIns="0"/>
          <a:lstStyle>
            <a:lvl1pPr marL="0" indent="0">
              <a:buNone/>
              <a:defRPr sz="352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301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564724" indent="-343224">
              <a:buClr>
                <a:schemeClr val="tx2"/>
              </a:buClr>
              <a:buSzPct val="120000"/>
              <a:defRPr sz="2514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897969" indent="-343224">
              <a:buClr>
                <a:schemeClr val="accent3"/>
              </a:buClr>
              <a:defRPr sz="226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243189" indent="-343224">
              <a:buClr>
                <a:schemeClr val="bg2"/>
              </a:buClr>
              <a:defRPr sz="226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Insert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395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Picture with description</a:t>
            </a:r>
            <a:endParaRPr lang="en-AU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38548" y="1507223"/>
            <a:ext cx="4239839" cy="51462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ru-RU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5422543" y="1511559"/>
            <a:ext cx="7185651" cy="5141167"/>
          </a:xfrm>
          <a:prstGeom prst="rect">
            <a:avLst/>
          </a:prstGeom>
        </p:spPr>
        <p:txBody>
          <a:bodyPr tIns="0"/>
          <a:lstStyle>
            <a:lvl1pPr marL="0" indent="0">
              <a:buNone/>
              <a:defRPr sz="352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buNone/>
              <a:defRPr sz="3017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564724" indent="-343224">
              <a:buClr>
                <a:schemeClr val="tx2"/>
              </a:buClr>
              <a:buSzPct val="120000"/>
              <a:defRPr sz="2514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897969" indent="-343224">
              <a:buClr>
                <a:schemeClr val="accent3"/>
              </a:buClr>
              <a:defRPr sz="226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243189" indent="-343224">
              <a:buClr>
                <a:schemeClr val="bg2"/>
              </a:buClr>
              <a:defRPr sz="226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Insert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176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1" y="1496290"/>
            <a:ext cx="5214166" cy="53849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with SUMMARY</a:t>
            </a:r>
            <a:endParaRPr lang="en-AU"/>
          </a:p>
        </p:txBody>
      </p:sp>
      <p:sp>
        <p:nvSpPr>
          <p:cNvPr id="6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825672" y="1579419"/>
            <a:ext cx="4378044" cy="52516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1266984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None/>
              <a:tabLst/>
              <a:defRPr sz="352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 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4009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Quar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Schedule/timeline - Quarter</a:t>
            </a:r>
            <a:endParaRPr lang="en-AU"/>
          </a:p>
        </p:txBody>
      </p:sp>
      <p:grpSp>
        <p:nvGrpSpPr>
          <p:cNvPr id="32" name="Group 31"/>
          <p:cNvGrpSpPr/>
          <p:nvPr userDrawn="1"/>
        </p:nvGrpSpPr>
        <p:grpSpPr>
          <a:xfrm>
            <a:off x="3595255" y="1437249"/>
            <a:ext cx="8979353" cy="5319151"/>
            <a:chOff x="2860151" y="1437249"/>
            <a:chExt cx="7143391" cy="5319151"/>
          </a:xfrm>
        </p:grpSpPr>
        <p:sp>
          <p:nvSpPr>
            <p:cNvPr id="4" name="Rectangle 3"/>
            <p:cNvSpPr/>
            <p:nvPr/>
          </p:nvSpPr>
          <p:spPr>
            <a:xfrm>
              <a:off x="2860151" y="1437765"/>
              <a:ext cx="873828" cy="5318635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3756506" y="1437249"/>
              <a:ext cx="873828" cy="531863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51455" y="1437765"/>
              <a:ext cx="873828" cy="5318635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5547107" y="1437765"/>
              <a:ext cx="873828" cy="531863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6442759" y="1437765"/>
              <a:ext cx="873828" cy="5318635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38411" y="1437765"/>
              <a:ext cx="873828" cy="531863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234063" y="1437765"/>
              <a:ext cx="873828" cy="5318635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129714" y="1437765"/>
              <a:ext cx="873828" cy="531863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</p:grpSp>
      <p:sp>
        <p:nvSpPr>
          <p:cNvPr id="16" name="Rectangle 15"/>
          <p:cNvSpPr/>
          <p:nvPr userDrawn="1"/>
        </p:nvSpPr>
        <p:spPr>
          <a:xfrm>
            <a:off x="3524095" y="1132731"/>
            <a:ext cx="905051" cy="25326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sz="1508" b="1">
                <a:solidFill>
                  <a:schemeClr val="tx2"/>
                </a:solidFill>
              </a:rPr>
              <a:t>2017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8013718" y="1132759"/>
            <a:ext cx="905051" cy="25326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sz="1508" b="1">
                <a:solidFill>
                  <a:schemeClr val="tx2"/>
                </a:solidFill>
              </a:rPr>
              <a:t>2018</a:t>
            </a:r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3593996" y="1411359"/>
            <a:ext cx="8979353" cy="36000"/>
            <a:chOff x="792510" y="1800000"/>
            <a:chExt cx="13537504" cy="36000"/>
          </a:xfrm>
        </p:grpSpPr>
        <p:sp>
          <p:nvSpPr>
            <p:cNvPr id="23" name="Rectangle 22"/>
            <p:cNvSpPr/>
            <p:nvPr/>
          </p:nvSpPr>
          <p:spPr>
            <a:xfrm>
              <a:off x="792510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489868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187226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884584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581942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279300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976658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674014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</p:grpSp>
      <p:grpSp>
        <p:nvGrpSpPr>
          <p:cNvPr id="31" name="Group 30"/>
          <p:cNvGrpSpPr/>
          <p:nvPr userDrawn="1"/>
        </p:nvGrpSpPr>
        <p:grpSpPr>
          <a:xfrm>
            <a:off x="3599044" y="1437765"/>
            <a:ext cx="8952115" cy="230220"/>
            <a:chOff x="2863166" y="1437765"/>
            <a:chExt cx="7121722" cy="230220"/>
          </a:xfrm>
        </p:grpSpPr>
        <p:sp>
          <p:nvSpPr>
            <p:cNvPr id="12" name="Rectangle 11"/>
            <p:cNvSpPr/>
            <p:nvPr/>
          </p:nvSpPr>
          <p:spPr>
            <a:xfrm>
              <a:off x="2863166" y="1437765"/>
              <a:ext cx="846186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752995" y="1437765"/>
              <a:ext cx="850905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Q2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52919" y="1437765"/>
              <a:ext cx="842706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Q3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547107" y="1437765"/>
              <a:ext cx="854832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Q4</a:t>
              </a: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446114" y="1437765"/>
              <a:ext cx="846186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Q1</a:t>
              </a: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7335943" y="1437765"/>
              <a:ext cx="850905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Q2</a:t>
              </a:r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8235868" y="1437765"/>
              <a:ext cx="842706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Q3</a:t>
              </a: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9130056" y="1437765"/>
              <a:ext cx="854832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598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Mon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/>
          <p:cNvGrpSpPr/>
          <p:nvPr userDrawn="1"/>
        </p:nvGrpSpPr>
        <p:grpSpPr>
          <a:xfrm>
            <a:off x="4458956" y="1395778"/>
            <a:ext cx="8144439" cy="5400000"/>
            <a:chOff x="3547256" y="1395778"/>
            <a:chExt cx="6479187" cy="8002298"/>
          </a:xfrm>
        </p:grpSpPr>
        <p:sp>
          <p:nvSpPr>
            <p:cNvPr id="34" name="Rectangle 33"/>
            <p:cNvSpPr/>
            <p:nvPr/>
          </p:nvSpPr>
          <p:spPr>
            <a:xfrm>
              <a:off x="3547256" y="13965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088843" y="1395778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629582" y="13965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170745" y="13965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711908" y="13965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53071" y="13965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794235" y="13965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335397" y="13965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8" name="Rectangle 57"/>
            <p:cNvSpPr/>
            <p:nvPr userDrawn="1"/>
          </p:nvSpPr>
          <p:spPr>
            <a:xfrm>
              <a:off x="7874156" y="13972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9" name="Rectangle 58"/>
            <p:cNvSpPr/>
            <p:nvPr userDrawn="1"/>
          </p:nvSpPr>
          <p:spPr>
            <a:xfrm>
              <a:off x="8415319" y="13972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0" name="Rectangle 59"/>
            <p:cNvSpPr/>
            <p:nvPr userDrawn="1"/>
          </p:nvSpPr>
          <p:spPr>
            <a:xfrm>
              <a:off x="8956482" y="13972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1" name="Rectangle 60"/>
            <p:cNvSpPr/>
            <p:nvPr userDrawn="1"/>
          </p:nvSpPr>
          <p:spPr>
            <a:xfrm>
              <a:off x="9497644" y="13972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Schedule/timeline by month</a:t>
            </a:r>
            <a:endParaRPr lang="en-AU"/>
          </a:p>
        </p:txBody>
      </p:sp>
      <p:sp>
        <p:nvSpPr>
          <p:cNvPr id="31" name="Rectangle 30"/>
          <p:cNvSpPr/>
          <p:nvPr userDrawn="1"/>
        </p:nvSpPr>
        <p:spPr>
          <a:xfrm>
            <a:off x="4353608" y="1088305"/>
            <a:ext cx="769294" cy="288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sz="1760" b="1">
                <a:solidFill>
                  <a:schemeClr val="tx2"/>
                </a:solidFill>
              </a:rPr>
              <a:t>2017</a:t>
            </a:r>
          </a:p>
        </p:txBody>
      </p:sp>
      <p:sp>
        <p:nvSpPr>
          <p:cNvPr id="32" name="Rectangle 31"/>
          <p:cNvSpPr/>
          <p:nvPr userDrawn="1"/>
        </p:nvSpPr>
        <p:spPr>
          <a:xfrm>
            <a:off x="8453471" y="1068832"/>
            <a:ext cx="769294" cy="288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sz="1760" b="1">
                <a:solidFill>
                  <a:schemeClr val="tx2"/>
                </a:solidFill>
              </a:rPr>
              <a:t>2018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61245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JUL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37073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AUG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20568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SEP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9707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OCT</a:t>
            </a:r>
          </a:p>
        </p:txBody>
      </p:sp>
      <p:sp>
        <p:nvSpPr>
          <p:cNvPr id="54" name="Rectangle 53"/>
          <p:cNvSpPr/>
          <p:nvPr userDrawn="1"/>
        </p:nvSpPr>
        <p:spPr>
          <a:xfrm>
            <a:off x="7182507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NOV</a:t>
            </a:r>
          </a:p>
        </p:txBody>
      </p:sp>
      <p:sp>
        <p:nvSpPr>
          <p:cNvPr id="55" name="Rectangle 54"/>
          <p:cNvSpPr/>
          <p:nvPr userDrawn="1"/>
        </p:nvSpPr>
        <p:spPr>
          <a:xfrm>
            <a:off x="7858335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DEC</a:t>
            </a:r>
          </a:p>
        </p:txBody>
      </p:sp>
      <p:sp>
        <p:nvSpPr>
          <p:cNvPr id="56" name="Rectangle 55"/>
          <p:cNvSpPr/>
          <p:nvPr userDrawn="1"/>
        </p:nvSpPr>
        <p:spPr>
          <a:xfrm>
            <a:off x="8541829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JAN</a:t>
            </a:r>
          </a:p>
        </p:txBody>
      </p:sp>
      <p:sp>
        <p:nvSpPr>
          <p:cNvPr id="57" name="Rectangle 56"/>
          <p:cNvSpPr/>
          <p:nvPr userDrawn="1"/>
        </p:nvSpPr>
        <p:spPr>
          <a:xfrm>
            <a:off x="9220969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FEB</a:t>
            </a:r>
          </a:p>
        </p:txBody>
      </p:sp>
      <p:sp>
        <p:nvSpPr>
          <p:cNvPr id="62" name="Rectangle 61"/>
          <p:cNvSpPr/>
          <p:nvPr userDrawn="1"/>
        </p:nvSpPr>
        <p:spPr>
          <a:xfrm>
            <a:off x="9900485" y="13972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MAR</a:t>
            </a:r>
          </a:p>
        </p:txBody>
      </p:sp>
      <p:sp>
        <p:nvSpPr>
          <p:cNvPr id="63" name="Rectangle 62"/>
          <p:cNvSpPr/>
          <p:nvPr userDrawn="1"/>
        </p:nvSpPr>
        <p:spPr>
          <a:xfrm>
            <a:off x="10576313" y="13972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APR</a:t>
            </a:r>
          </a:p>
        </p:txBody>
      </p:sp>
      <p:sp>
        <p:nvSpPr>
          <p:cNvPr id="64" name="Rectangle 63"/>
          <p:cNvSpPr/>
          <p:nvPr userDrawn="1"/>
        </p:nvSpPr>
        <p:spPr>
          <a:xfrm>
            <a:off x="11259808" y="13972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MAY</a:t>
            </a:r>
          </a:p>
        </p:txBody>
      </p:sp>
      <p:sp>
        <p:nvSpPr>
          <p:cNvPr id="65" name="Rectangle 64"/>
          <p:cNvSpPr/>
          <p:nvPr userDrawn="1"/>
        </p:nvSpPr>
        <p:spPr>
          <a:xfrm>
            <a:off x="11938947" y="13972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JUN</a:t>
            </a:r>
          </a:p>
        </p:txBody>
      </p:sp>
      <p:grpSp>
        <p:nvGrpSpPr>
          <p:cNvPr id="71" name="Group 70"/>
          <p:cNvGrpSpPr/>
          <p:nvPr userDrawn="1"/>
        </p:nvGrpSpPr>
        <p:grpSpPr>
          <a:xfrm>
            <a:off x="4458195" y="1356832"/>
            <a:ext cx="8145200" cy="36000"/>
            <a:chOff x="3546650" y="1356832"/>
            <a:chExt cx="6479793" cy="36000"/>
          </a:xfrm>
        </p:grpSpPr>
        <p:sp>
          <p:nvSpPr>
            <p:cNvPr id="46" name="Rectangle 45"/>
            <p:cNvSpPr/>
            <p:nvPr/>
          </p:nvSpPr>
          <p:spPr>
            <a:xfrm>
              <a:off x="3546650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087813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628976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170140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711303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252466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793629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334792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6" name="Rectangle 65"/>
            <p:cNvSpPr/>
            <p:nvPr userDrawn="1"/>
          </p:nvSpPr>
          <p:spPr>
            <a:xfrm>
              <a:off x="7874155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7" name="Rectangle 66"/>
            <p:cNvSpPr/>
            <p:nvPr userDrawn="1"/>
          </p:nvSpPr>
          <p:spPr>
            <a:xfrm>
              <a:off x="8415318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8" name="Rectangle 67"/>
            <p:cNvSpPr/>
            <p:nvPr userDrawn="1"/>
          </p:nvSpPr>
          <p:spPr>
            <a:xfrm>
              <a:off x="8956481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9" name="Rectangle 68"/>
            <p:cNvSpPr/>
            <p:nvPr userDrawn="1"/>
          </p:nvSpPr>
          <p:spPr>
            <a:xfrm>
              <a:off x="9497644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7626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6816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9558" y="2443942"/>
            <a:ext cx="10543846" cy="1332000"/>
          </a:xfrm>
        </p:spPr>
        <p:txBody>
          <a:bodyPr>
            <a:normAutofit/>
          </a:bodyPr>
          <a:lstStyle>
            <a:lvl1pPr>
              <a:defRPr sz="4022" baseline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/>
              <a:t>Section Header</a:t>
            </a:r>
            <a:endParaRPr lang="en-AU"/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849558" y="3779837"/>
            <a:ext cx="10543846" cy="1800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66984" rtl="0" eaLnBrk="1" fontAlgn="auto" latinLnBrk="0" hangingPunct="1">
              <a:lnSpc>
                <a:spcPct val="100000"/>
              </a:lnSpc>
              <a:spcBef>
                <a:spcPts val="150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11" baseline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Optional: Section description</a:t>
            </a:r>
          </a:p>
          <a:p>
            <a:pPr marL="0" marR="0" lvl="0" indent="0" algn="l" defTabSz="1266984" rtl="0" eaLnBrk="1" fontAlgn="auto" latinLnBrk="0" hangingPunct="1">
              <a:lnSpc>
                <a:spcPct val="90000"/>
              </a:lnSpc>
              <a:spcBef>
                <a:spcPts val="138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This page is a section header to group multiple slides together.</a:t>
            </a:r>
          </a:p>
          <a:p>
            <a:pPr lvl="0"/>
            <a:endParaRPr lang="en-AU"/>
          </a:p>
        </p:txBody>
      </p:sp>
      <p:sp>
        <p:nvSpPr>
          <p:cNvPr id="3" name="Rectangle 2"/>
          <p:cNvSpPr/>
          <p:nvPr userDrawn="1"/>
        </p:nvSpPr>
        <p:spPr>
          <a:xfrm>
            <a:off x="-1" y="-43201"/>
            <a:ext cx="13440010" cy="1677601"/>
          </a:xfrm>
          <a:custGeom>
            <a:avLst/>
            <a:gdLst>
              <a:gd name="connsiteX0" fmla="*/ 0 w 10691813"/>
              <a:gd name="connsiteY0" fmla="*/ 0 h 1745673"/>
              <a:gd name="connsiteX1" fmla="*/ 10691813 w 10691813"/>
              <a:gd name="connsiteY1" fmla="*/ 0 h 1745673"/>
              <a:gd name="connsiteX2" fmla="*/ 10691813 w 10691813"/>
              <a:gd name="connsiteY2" fmla="*/ 1745673 h 1745673"/>
              <a:gd name="connsiteX3" fmla="*/ 0 w 10691813"/>
              <a:gd name="connsiteY3" fmla="*/ 1745673 h 1745673"/>
              <a:gd name="connsiteX4" fmla="*/ 0 w 10691813"/>
              <a:gd name="connsiteY4" fmla="*/ 0 h 1745673"/>
              <a:gd name="connsiteX0" fmla="*/ 0 w 10691813"/>
              <a:gd name="connsiteY0" fmla="*/ 0 h 1745673"/>
              <a:gd name="connsiteX1" fmla="*/ 10691813 w 10691813"/>
              <a:gd name="connsiteY1" fmla="*/ 0 h 1745673"/>
              <a:gd name="connsiteX2" fmla="*/ 10691813 w 10691813"/>
              <a:gd name="connsiteY2" fmla="*/ 1221971 h 1745673"/>
              <a:gd name="connsiteX3" fmla="*/ 0 w 10691813"/>
              <a:gd name="connsiteY3" fmla="*/ 1745673 h 1745673"/>
              <a:gd name="connsiteX4" fmla="*/ 0 w 10691813"/>
              <a:gd name="connsiteY4" fmla="*/ 0 h 1745673"/>
              <a:gd name="connsiteX0" fmla="*/ 0 w 10691813"/>
              <a:gd name="connsiteY0" fmla="*/ 0 h 1745673"/>
              <a:gd name="connsiteX1" fmla="*/ 10691813 w 10691813"/>
              <a:gd name="connsiteY1" fmla="*/ 0 h 1745673"/>
              <a:gd name="connsiteX2" fmla="*/ 10684613 w 10691813"/>
              <a:gd name="connsiteY2" fmla="*/ 1452400 h 1745673"/>
              <a:gd name="connsiteX3" fmla="*/ 0 w 10691813"/>
              <a:gd name="connsiteY3" fmla="*/ 1745673 h 1745673"/>
              <a:gd name="connsiteX4" fmla="*/ 0 w 10691813"/>
              <a:gd name="connsiteY4" fmla="*/ 0 h 1745673"/>
              <a:gd name="connsiteX0" fmla="*/ 0 w 10691813"/>
              <a:gd name="connsiteY0" fmla="*/ 0 h 1745673"/>
              <a:gd name="connsiteX1" fmla="*/ 10691813 w 10691813"/>
              <a:gd name="connsiteY1" fmla="*/ 0 h 1745673"/>
              <a:gd name="connsiteX2" fmla="*/ 10684613 w 10691813"/>
              <a:gd name="connsiteY2" fmla="*/ 1438435 h 1745673"/>
              <a:gd name="connsiteX3" fmla="*/ 0 w 10691813"/>
              <a:gd name="connsiteY3" fmla="*/ 1745673 h 1745673"/>
              <a:gd name="connsiteX4" fmla="*/ 0 w 10691813"/>
              <a:gd name="connsiteY4" fmla="*/ 0 h 1745673"/>
              <a:gd name="connsiteX0" fmla="*/ 0 w 10684613"/>
              <a:gd name="connsiteY0" fmla="*/ 6983 h 1752656"/>
              <a:gd name="connsiteX1" fmla="*/ 10684613 w 10684613"/>
              <a:gd name="connsiteY1" fmla="*/ 0 h 1752656"/>
              <a:gd name="connsiteX2" fmla="*/ 10684613 w 10684613"/>
              <a:gd name="connsiteY2" fmla="*/ 1445418 h 1752656"/>
              <a:gd name="connsiteX3" fmla="*/ 0 w 10684613"/>
              <a:gd name="connsiteY3" fmla="*/ 1752656 h 1752656"/>
              <a:gd name="connsiteX4" fmla="*/ 0 w 10684613"/>
              <a:gd name="connsiteY4" fmla="*/ 6983 h 1752656"/>
              <a:gd name="connsiteX0" fmla="*/ 0 w 10684613"/>
              <a:gd name="connsiteY0" fmla="*/ 6983 h 1752656"/>
              <a:gd name="connsiteX1" fmla="*/ 10684613 w 10684613"/>
              <a:gd name="connsiteY1" fmla="*/ 0 h 1752656"/>
              <a:gd name="connsiteX2" fmla="*/ 10677413 w 10684613"/>
              <a:gd name="connsiteY2" fmla="*/ 1452401 h 1752656"/>
              <a:gd name="connsiteX3" fmla="*/ 0 w 10684613"/>
              <a:gd name="connsiteY3" fmla="*/ 1752656 h 1752656"/>
              <a:gd name="connsiteX4" fmla="*/ 0 w 10684613"/>
              <a:gd name="connsiteY4" fmla="*/ 6983 h 1752656"/>
              <a:gd name="connsiteX0" fmla="*/ 0 w 10699013"/>
              <a:gd name="connsiteY0" fmla="*/ 6983 h 1752656"/>
              <a:gd name="connsiteX1" fmla="*/ 10684613 w 10699013"/>
              <a:gd name="connsiteY1" fmla="*/ 0 h 1752656"/>
              <a:gd name="connsiteX2" fmla="*/ 10699013 w 10699013"/>
              <a:gd name="connsiteY2" fmla="*/ 1445418 h 1752656"/>
              <a:gd name="connsiteX3" fmla="*/ 0 w 10699013"/>
              <a:gd name="connsiteY3" fmla="*/ 1752656 h 1752656"/>
              <a:gd name="connsiteX4" fmla="*/ 0 w 10699013"/>
              <a:gd name="connsiteY4" fmla="*/ 6983 h 1752656"/>
              <a:gd name="connsiteX0" fmla="*/ 0 w 10684613"/>
              <a:gd name="connsiteY0" fmla="*/ 6983 h 1752656"/>
              <a:gd name="connsiteX1" fmla="*/ 10684613 w 10684613"/>
              <a:gd name="connsiteY1" fmla="*/ 0 h 1752656"/>
              <a:gd name="connsiteX2" fmla="*/ 10684613 w 10684613"/>
              <a:gd name="connsiteY2" fmla="*/ 1445418 h 1752656"/>
              <a:gd name="connsiteX3" fmla="*/ 0 w 10684613"/>
              <a:gd name="connsiteY3" fmla="*/ 1752656 h 1752656"/>
              <a:gd name="connsiteX4" fmla="*/ 0 w 10684613"/>
              <a:gd name="connsiteY4" fmla="*/ 6983 h 175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84613" h="1752656">
                <a:moveTo>
                  <a:pt x="0" y="6983"/>
                </a:moveTo>
                <a:lnTo>
                  <a:pt x="10684613" y="0"/>
                </a:lnTo>
                <a:lnTo>
                  <a:pt x="10684613" y="1445418"/>
                </a:lnTo>
                <a:lnTo>
                  <a:pt x="0" y="1752656"/>
                </a:lnTo>
                <a:lnTo>
                  <a:pt x="0" y="6983"/>
                </a:lnTo>
                <a:close/>
              </a:path>
            </a:pathLst>
          </a:custGeom>
          <a:solidFill>
            <a:srgbClr val="1E96AD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DF41ED-9E48-9059-A373-60C2FEF5C793}"/>
              </a:ext>
            </a:extLst>
          </p:cNvPr>
          <p:cNvSpPr/>
          <p:nvPr userDrawn="1"/>
        </p:nvSpPr>
        <p:spPr>
          <a:xfrm>
            <a:off x="234" y="6948488"/>
            <a:ext cx="13439775" cy="619200"/>
          </a:xfrm>
          <a:prstGeom prst="rect">
            <a:avLst/>
          </a:prstGeom>
          <a:solidFill>
            <a:srgbClr val="3843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5286C-99BC-49FF-76D6-84AD868DA0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59" y="7060925"/>
            <a:ext cx="1042446" cy="43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82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Contents</a:t>
            </a:r>
            <a:endParaRPr lang="en-AU"/>
          </a:p>
        </p:txBody>
      </p:sp>
      <p:sp>
        <p:nvSpPr>
          <p:cNvPr id="3" name="Text Placeholder 18"/>
          <p:cNvSpPr>
            <a:spLocks noGrp="1"/>
          </p:cNvSpPr>
          <p:nvPr>
            <p:ph type="body" sz="quarter" idx="25" hasCustomPrompt="1"/>
          </p:nvPr>
        </p:nvSpPr>
        <p:spPr>
          <a:xfrm>
            <a:off x="1945086" y="2370982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176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4" name="Text Placeholder 18"/>
          <p:cNvSpPr>
            <a:spLocks noGrp="1"/>
          </p:cNvSpPr>
          <p:nvPr>
            <p:ph type="body" sz="quarter" idx="26" hasCustomPrompt="1"/>
          </p:nvPr>
        </p:nvSpPr>
        <p:spPr>
          <a:xfrm>
            <a:off x="1945086" y="2833245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760" b="0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836120" y="2364887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AU" sz="5531" b="1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36120" y="4022711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AU" sz="5531" b="1">
                <a:solidFill>
                  <a:schemeClr val="accent1"/>
                </a:solidFill>
              </a:rPr>
              <a:t>2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1742031" y="2364887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8"/>
          <p:cNvSpPr>
            <a:spLocks noGrp="1"/>
          </p:cNvSpPr>
          <p:nvPr>
            <p:ph type="body" sz="quarter" idx="27" hasCustomPrompt="1"/>
          </p:nvPr>
        </p:nvSpPr>
        <p:spPr>
          <a:xfrm>
            <a:off x="1945086" y="4043493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176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10" name="Text Placeholder 18"/>
          <p:cNvSpPr>
            <a:spLocks noGrp="1"/>
          </p:cNvSpPr>
          <p:nvPr>
            <p:ph type="body" sz="quarter" idx="28" hasCustomPrompt="1"/>
          </p:nvPr>
        </p:nvSpPr>
        <p:spPr>
          <a:xfrm>
            <a:off x="1945086" y="4505756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760" b="0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 flipH="1">
            <a:off x="1742031" y="4037398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8"/>
          <p:cNvSpPr>
            <a:spLocks noGrp="1"/>
          </p:cNvSpPr>
          <p:nvPr>
            <p:ph type="body" sz="quarter" idx="31" hasCustomPrompt="1"/>
          </p:nvPr>
        </p:nvSpPr>
        <p:spPr>
          <a:xfrm>
            <a:off x="8078399" y="2382045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176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16" name="Text Placeholder 18"/>
          <p:cNvSpPr>
            <a:spLocks noGrp="1"/>
          </p:cNvSpPr>
          <p:nvPr>
            <p:ph type="body" sz="quarter" idx="32" hasCustomPrompt="1"/>
          </p:nvPr>
        </p:nvSpPr>
        <p:spPr>
          <a:xfrm>
            <a:off x="8078399" y="2844308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760" b="0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6979875" y="2375950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US" sz="5531" b="1">
                <a:solidFill>
                  <a:schemeClr val="accent3"/>
                </a:solidFill>
              </a:rPr>
              <a:t>3</a:t>
            </a:r>
            <a:endParaRPr lang="en-AU" sz="5531" b="1">
              <a:solidFill>
                <a:schemeClr val="accent3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6979875" y="4033774"/>
            <a:ext cx="814546" cy="10800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anchor="ctr"/>
          <a:lstStyle/>
          <a:p>
            <a:pPr algn="ctr" defTabSz="1188857">
              <a:defRPr/>
            </a:pPr>
            <a:r>
              <a:rPr lang="en-US" sz="5531" b="1">
                <a:solidFill>
                  <a:schemeClr val="accent3">
                    <a:lumMod val="75000"/>
                  </a:schemeClr>
                </a:solidFill>
              </a:rPr>
              <a:t>4</a:t>
            </a:r>
            <a:endParaRPr lang="en-AU" sz="5531" b="1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 flipH="1">
            <a:off x="7875344" y="2375950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8"/>
          <p:cNvSpPr>
            <a:spLocks noGrp="1"/>
          </p:cNvSpPr>
          <p:nvPr>
            <p:ph type="body" sz="quarter" idx="33" hasCustomPrompt="1"/>
          </p:nvPr>
        </p:nvSpPr>
        <p:spPr>
          <a:xfrm>
            <a:off x="8078399" y="4054556"/>
            <a:ext cx="4525256" cy="360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anchor="ctr"/>
          <a:lstStyle>
            <a:lvl1pPr marL="0" indent="0">
              <a:buNone/>
              <a:defRPr lang="en-AU" sz="1760" b="1" cap="all" baseline="0" dirty="0">
                <a:solidFill>
                  <a:schemeClr val="tx1"/>
                </a:solidFill>
              </a:defRPr>
            </a:lvl1pPr>
          </a:lstStyle>
          <a:p>
            <a:pPr marL="0" lvl="0" defTabSz="1188857"/>
            <a:r>
              <a:rPr lang="en-AU"/>
              <a:t>SECTION 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34" hasCustomPrompt="1"/>
          </p:nvPr>
        </p:nvSpPr>
        <p:spPr>
          <a:xfrm>
            <a:off x="8078399" y="4516819"/>
            <a:ext cx="4525256" cy="6120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91440" bIns="45720" rtlCol="0" anchor="t">
            <a:normAutofit/>
          </a:bodyPr>
          <a:lstStyle>
            <a:lvl1pPr>
              <a:defRPr lang="en-AU" sz="1760" b="0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 indent="0" defTabSz="1188857">
              <a:lnSpc>
                <a:spcPct val="100000"/>
              </a:lnSpc>
              <a:spcBef>
                <a:spcPts val="0"/>
              </a:spcBef>
              <a:buNone/>
            </a:pPr>
            <a:r>
              <a:rPr lang="en-AU"/>
              <a:t>3-5 keywords/description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flipH="1">
            <a:off x="7875344" y="4048461"/>
            <a:ext cx="0" cy="1080000"/>
          </a:xfrm>
          <a:prstGeom prst="line">
            <a:avLst/>
          </a:prstGeom>
          <a:ln w="28575">
            <a:solidFill>
              <a:schemeClr val="tx1">
                <a:lumMod val="40000"/>
                <a:lumOff val="6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006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BLANK PAGE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77687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PAGE with description</a:t>
            </a:r>
            <a:endParaRPr lang="en-AU"/>
          </a:p>
        </p:txBody>
      </p:sp>
      <p:sp>
        <p:nvSpPr>
          <p:cNvPr id="3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838548" y="1154314"/>
            <a:ext cx="11765107" cy="6329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754"/>
              </a:spcBef>
              <a:spcAft>
                <a:spcPts val="754"/>
              </a:spcAft>
              <a:buNone/>
              <a:defRPr sz="1383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description…</a:t>
            </a:r>
          </a:p>
        </p:txBody>
      </p:sp>
    </p:spTree>
    <p:extLst>
      <p:ext uri="{BB962C8B-B14F-4D97-AF65-F5344CB8AC3E}">
        <p14:creationId xmlns:p14="http://schemas.microsoft.com/office/powerpoint/2010/main" val="28777997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301236"/>
            <a:ext cx="3710710" cy="55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with SUMMARY</a:t>
            </a:r>
            <a:endParaRPr lang="en-AU"/>
          </a:p>
        </p:txBody>
      </p:sp>
      <p:sp>
        <p:nvSpPr>
          <p:cNvPr id="3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838547" y="1414473"/>
            <a:ext cx="2805659" cy="540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57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 </a:t>
            </a:r>
          </a:p>
        </p:txBody>
      </p:sp>
    </p:spTree>
    <p:extLst>
      <p:ext uri="{BB962C8B-B14F-4D97-AF65-F5344CB8AC3E}">
        <p14:creationId xmlns:p14="http://schemas.microsoft.com/office/powerpoint/2010/main" val="38265209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301236"/>
            <a:ext cx="3710710" cy="55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with ONE COLUMN AND SUMMARY</a:t>
            </a:r>
            <a:endParaRPr lang="en-AU"/>
          </a:p>
        </p:txBody>
      </p:sp>
      <p:sp>
        <p:nvSpPr>
          <p:cNvPr id="3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838547" y="1414473"/>
            <a:ext cx="2805659" cy="540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57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 </a:t>
            </a:r>
          </a:p>
        </p:txBody>
      </p:sp>
      <p:sp>
        <p:nvSpPr>
          <p:cNvPr id="5" name="Text Placeholder 18"/>
          <p:cNvSpPr>
            <a:spLocks noGrp="1"/>
          </p:cNvSpPr>
          <p:nvPr>
            <p:ph type="body" sz="quarter" idx="21" hasCustomPrompt="1"/>
          </p:nvPr>
        </p:nvSpPr>
        <p:spPr>
          <a:xfrm>
            <a:off x="3776075" y="1414473"/>
            <a:ext cx="8824249" cy="540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57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</p:spTree>
    <p:extLst>
      <p:ext uri="{BB962C8B-B14F-4D97-AF65-F5344CB8AC3E}">
        <p14:creationId xmlns:p14="http://schemas.microsoft.com/office/powerpoint/2010/main" val="22616221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with two columns</a:t>
            </a:r>
            <a:endParaRPr lang="en-AU"/>
          </a:p>
        </p:txBody>
      </p:sp>
      <p:sp>
        <p:nvSpPr>
          <p:cNvPr id="3" name="Text Placeholder 18"/>
          <p:cNvSpPr>
            <a:spLocks noGrp="1"/>
          </p:cNvSpPr>
          <p:nvPr>
            <p:ph type="body" sz="quarter" idx="21" hasCustomPrompt="1"/>
          </p:nvPr>
        </p:nvSpPr>
        <p:spPr>
          <a:xfrm>
            <a:off x="6938288" y="1656000"/>
            <a:ext cx="5656570" cy="519447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57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  <p:sp>
        <p:nvSpPr>
          <p:cNvPr id="4" name="Text Placeholder 18"/>
          <p:cNvSpPr>
            <a:spLocks noGrp="1"/>
          </p:cNvSpPr>
          <p:nvPr>
            <p:ph type="body" sz="quarter" idx="22" hasCustomPrompt="1"/>
          </p:nvPr>
        </p:nvSpPr>
        <p:spPr>
          <a:xfrm>
            <a:off x="842528" y="1656000"/>
            <a:ext cx="5656570" cy="519447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57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  <p:sp>
        <p:nvSpPr>
          <p:cNvPr id="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843906" y="1278312"/>
            <a:ext cx="5656570" cy="36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760" baseline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HEADING</a:t>
            </a:r>
          </a:p>
        </p:txBody>
      </p:sp>
      <p:sp>
        <p:nvSpPr>
          <p:cNvPr id="6" name="Text Placeholder 18"/>
          <p:cNvSpPr>
            <a:spLocks noGrp="1"/>
          </p:cNvSpPr>
          <p:nvPr>
            <p:ph type="body" sz="quarter" idx="23" hasCustomPrompt="1"/>
          </p:nvPr>
        </p:nvSpPr>
        <p:spPr>
          <a:xfrm>
            <a:off x="6937031" y="1278312"/>
            <a:ext cx="5656570" cy="36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760" baseline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338469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- Quadrant</a:t>
            </a:r>
            <a:endParaRPr lang="en-AU"/>
          </a:p>
        </p:txBody>
      </p:sp>
      <p:sp>
        <p:nvSpPr>
          <p:cNvPr id="5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838547" y="1666472"/>
            <a:ext cx="5792328" cy="2304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383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  <p:sp>
        <p:nvSpPr>
          <p:cNvPr id="6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838547" y="1286836"/>
            <a:ext cx="5792328" cy="36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buNone/>
              <a:defRPr sz="1760" baseline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HEADING</a:t>
            </a:r>
          </a:p>
        </p:txBody>
      </p:sp>
      <p:sp>
        <p:nvSpPr>
          <p:cNvPr id="7" name="Text Placeholder 18"/>
          <p:cNvSpPr>
            <a:spLocks noGrp="1"/>
          </p:cNvSpPr>
          <p:nvPr>
            <p:ph type="body" sz="quarter" idx="21" hasCustomPrompt="1"/>
          </p:nvPr>
        </p:nvSpPr>
        <p:spPr>
          <a:xfrm>
            <a:off x="6811327" y="1666472"/>
            <a:ext cx="5792328" cy="2304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383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22" hasCustomPrompt="1"/>
          </p:nvPr>
        </p:nvSpPr>
        <p:spPr>
          <a:xfrm>
            <a:off x="6811327" y="1286836"/>
            <a:ext cx="5792328" cy="36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buNone/>
              <a:defRPr sz="1760" baseline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HEADING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23" hasCustomPrompt="1"/>
          </p:nvPr>
        </p:nvSpPr>
        <p:spPr>
          <a:xfrm>
            <a:off x="838547" y="4503272"/>
            <a:ext cx="5792328" cy="2304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383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  <p:sp>
        <p:nvSpPr>
          <p:cNvPr id="10" name="Text Placeholder 18"/>
          <p:cNvSpPr>
            <a:spLocks noGrp="1"/>
          </p:cNvSpPr>
          <p:nvPr>
            <p:ph type="body" sz="quarter" idx="24" hasCustomPrompt="1"/>
          </p:nvPr>
        </p:nvSpPr>
        <p:spPr>
          <a:xfrm>
            <a:off x="838547" y="4123636"/>
            <a:ext cx="5792328" cy="36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buNone/>
              <a:defRPr sz="1760" baseline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HEADING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5" hasCustomPrompt="1"/>
          </p:nvPr>
        </p:nvSpPr>
        <p:spPr>
          <a:xfrm>
            <a:off x="6811327" y="4503272"/>
            <a:ext cx="5792328" cy="2304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383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26" hasCustomPrompt="1"/>
          </p:nvPr>
        </p:nvSpPr>
        <p:spPr>
          <a:xfrm>
            <a:off x="6811327" y="4123636"/>
            <a:ext cx="5792328" cy="36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buNone/>
              <a:defRPr sz="1760" baseline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9397790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 Columns and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301236"/>
            <a:ext cx="3710710" cy="55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TITLE with Two Columns AND SUMMARY</a:t>
            </a:r>
            <a:endParaRPr lang="en-AU"/>
          </a:p>
        </p:txBody>
      </p:sp>
      <p:sp>
        <p:nvSpPr>
          <p:cNvPr id="3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838547" y="1414473"/>
            <a:ext cx="2805659" cy="540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57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 </a:t>
            </a:r>
          </a:p>
        </p:txBody>
      </p:sp>
      <p:sp>
        <p:nvSpPr>
          <p:cNvPr id="5" name="Text Placeholder 18"/>
          <p:cNvSpPr>
            <a:spLocks noGrp="1"/>
          </p:cNvSpPr>
          <p:nvPr>
            <p:ph type="body" sz="quarter" idx="21" hasCustomPrompt="1"/>
          </p:nvPr>
        </p:nvSpPr>
        <p:spPr>
          <a:xfrm>
            <a:off x="3766368" y="1414473"/>
            <a:ext cx="4298993" cy="540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57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  <p:sp>
        <p:nvSpPr>
          <p:cNvPr id="6" name="Text Placeholder 18"/>
          <p:cNvSpPr>
            <a:spLocks noGrp="1"/>
          </p:cNvSpPr>
          <p:nvPr>
            <p:ph type="body" sz="quarter" idx="22" hasCustomPrompt="1"/>
          </p:nvPr>
        </p:nvSpPr>
        <p:spPr>
          <a:xfrm>
            <a:off x="8296691" y="1414473"/>
            <a:ext cx="4298993" cy="5400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57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AU"/>
              <a:t>Insert text…</a:t>
            </a:r>
          </a:p>
        </p:txBody>
      </p:sp>
    </p:spTree>
    <p:extLst>
      <p:ext uri="{BB962C8B-B14F-4D97-AF65-F5344CB8AC3E}">
        <p14:creationId xmlns:p14="http://schemas.microsoft.com/office/powerpoint/2010/main" val="22453393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Quar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Schedule/timeline - Quarter</a:t>
            </a:r>
            <a:endParaRPr lang="en-AU"/>
          </a:p>
        </p:txBody>
      </p:sp>
      <p:grpSp>
        <p:nvGrpSpPr>
          <p:cNvPr id="32" name="Group 31"/>
          <p:cNvGrpSpPr/>
          <p:nvPr userDrawn="1"/>
        </p:nvGrpSpPr>
        <p:grpSpPr>
          <a:xfrm>
            <a:off x="3595255" y="1437249"/>
            <a:ext cx="8979353" cy="5319151"/>
            <a:chOff x="2860151" y="1437249"/>
            <a:chExt cx="7143391" cy="5319151"/>
          </a:xfrm>
        </p:grpSpPr>
        <p:sp>
          <p:nvSpPr>
            <p:cNvPr id="4" name="Rectangle 3"/>
            <p:cNvSpPr/>
            <p:nvPr/>
          </p:nvSpPr>
          <p:spPr>
            <a:xfrm>
              <a:off x="2860151" y="1437765"/>
              <a:ext cx="873828" cy="5318635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3756506" y="1437249"/>
              <a:ext cx="873828" cy="531863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51455" y="1437765"/>
              <a:ext cx="873828" cy="5318635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5547107" y="1437765"/>
              <a:ext cx="873828" cy="531863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6442759" y="1437765"/>
              <a:ext cx="873828" cy="5318635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38411" y="1437765"/>
              <a:ext cx="873828" cy="531863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234063" y="1437765"/>
              <a:ext cx="873828" cy="5318635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129714" y="1437765"/>
              <a:ext cx="873828" cy="5318635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</p:grpSp>
      <p:sp>
        <p:nvSpPr>
          <p:cNvPr id="16" name="Rectangle 15"/>
          <p:cNvSpPr/>
          <p:nvPr userDrawn="1"/>
        </p:nvSpPr>
        <p:spPr>
          <a:xfrm>
            <a:off x="3524095" y="1132731"/>
            <a:ext cx="905051" cy="25326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sz="1508" b="1">
                <a:solidFill>
                  <a:schemeClr val="tx2"/>
                </a:solidFill>
              </a:rPr>
              <a:t>2017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8013718" y="1132759"/>
            <a:ext cx="905051" cy="25326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sz="1508" b="1">
                <a:solidFill>
                  <a:schemeClr val="tx2"/>
                </a:solidFill>
              </a:rPr>
              <a:t>2018</a:t>
            </a:r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3593996" y="1411359"/>
            <a:ext cx="8979353" cy="36000"/>
            <a:chOff x="792510" y="1800000"/>
            <a:chExt cx="13537504" cy="36000"/>
          </a:xfrm>
        </p:grpSpPr>
        <p:sp>
          <p:nvSpPr>
            <p:cNvPr id="23" name="Rectangle 22"/>
            <p:cNvSpPr/>
            <p:nvPr/>
          </p:nvSpPr>
          <p:spPr>
            <a:xfrm>
              <a:off x="792510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489868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187226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884584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581942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279300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976658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674014" y="1800000"/>
              <a:ext cx="1656000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</p:grpSp>
      <p:grpSp>
        <p:nvGrpSpPr>
          <p:cNvPr id="31" name="Group 30"/>
          <p:cNvGrpSpPr/>
          <p:nvPr userDrawn="1"/>
        </p:nvGrpSpPr>
        <p:grpSpPr>
          <a:xfrm>
            <a:off x="3599044" y="1437765"/>
            <a:ext cx="8952115" cy="230220"/>
            <a:chOff x="2863166" y="1437765"/>
            <a:chExt cx="7121722" cy="230220"/>
          </a:xfrm>
        </p:grpSpPr>
        <p:sp>
          <p:nvSpPr>
            <p:cNvPr id="12" name="Rectangle 11"/>
            <p:cNvSpPr/>
            <p:nvPr/>
          </p:nvSpPr>
          <p:spPr>
            <a:xfrm>
              <a:off x="2863166" y="1437765"/>
              <a:ext cx="846186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752995" y="1437765"/>
              <a:ext cx="850905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Q2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52919" y="1437765"/>
              <a:ext cx="842706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Q3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547107" y="1437765"/>
              <a:ext cx="854832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Q4</a:t>
              </a: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446114" y="1437765"/>
              <a:ext cx="846186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Q1</a:t>
              </a: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7335943" y="1437765"/>
              <a:ext cx="850905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Q2</a:t>
              </a:r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8235868" y="1437765"/>
              <a:ext cx="842706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Q3</a:t>
              </a: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9130056" y="1437765"/>
              <a:ext cx="854832" cy="2302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r>
                <a:rPr lang="en-AU" sz="1131" b="1">
                  <a:solidFill>
                    <a:schemeClr val="tx1"/>
                  </a:solidFill>
                </a:rPr>
                <a:t>Q4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6632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Mon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/>
          <p:cNvGrpSpPr/>
          <p:nvPr userDrawn="1"/>
        </p:nvGrpSpPr>
        <p:grpSpPr>
          <a:xfrm>
            <a:off x="4458956" y="1395778"/>
            <a:ext cx="8144439" cy="5400000"/>
            <a:chOff x="3547256" y="1395778"/>
            <a:chExt cx="6479187" cy="8002298"/>
          </a:xfrm>
        </p:grpSpPr>
        <p:sp>
          <p:nvSpPr>
            <p:cNvPr id="34" name="Rectangle 33"/>
            <p:cNvSpPr/>
            <p:nvPr/>
          </p:nvSpPr>
          <p:spPr>
            <a:xfrm>
              <a:off x="3547256" y="13965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088843" y="1395778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629582" y="13965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170745" y="13965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711908" y="13965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53071" y="13965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794235" y="13965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335397" y="13965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8" name="Rectangle 57"/>
            <p:cNvSpPr/>
            <p:nvPr userDrawn="1"/>
          </p:nvSpPr>
          <p:spPr>
            <a:xfrm>
              <a:off x="7874156" y="13972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9" name="Rectangle 58"/>
            <p:cNvSpPr/>
            <p:nvPr userDrawn="1"/>
          </p:nvSpPr>
          <p:spPr>
            <a:xfrm>
              <a:off x="8415319" y="13972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0" name="Rectangle 59"/>
            <p:cNvSpPr/>
            <p:nvPr userDrawn="1"/>
          </p:nvSpPr>
          <p:spPr>
            <a:xfrm>
              <a:off x="8956482" y="1397254"/>
              <a:ext cx="528799" cy="8000822"/>
            </a:xfrm>
            <a:prstGeom prst="rect">
              <a:avLst/>
            </a:prstGeom>
            <a:solidFill>
              <a:srgbClr val="F8F8F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1" name="Rectangle 60"/>
            <p:cNvSpPr/>
            <p:nvPr userDrawn="1"/>
          </p:nvSpPr>
          <p:spPr>
            <a:xfrm>
              <a:off x="9497644" y="1397254"/>
              <a:ext cx="528799" cy="8000822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/>
              <a:t>Schedule/timeline by month</a:t>
            </a:r>
            <a:endParaRPr lang="en-AU"/>
          </a:p>
        </p:txBody>
      </p:sp>
      <p:sp>
        <p:nvSpPr>
          <p:cNvPr id="31" name="Rectangle 30"/>
          <p:cNvSpPr/>
          <p:nvPr userDrawn="1"/>
        </p:nvSpPr>
        <p:spPr>
          <a:xfrm>
            <a:off x="4353608" y="1088305"/>
            <a:ext cx="769294" cy="288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sz="1760" b="1">
                <a:solidFill>
                  <a:schemeClr val="tx2"/>
                </a:solidFill>
              </a:rPr>
              <a:t>2017</a:t>
            </a:r>
          </a:p>
        </p:txBody>
      </p:sp>
      <p:sp>
        <p:nvSpPr>
          <p:cNvPr id="32" name="Rectangle 31"/>
          <p:cNvSpPr/>
          <p:nvPr userDrawn="1"/>
        </p:nvSpPr>
        <p:spPr>
          <a:xfrm>
            <a:off x="8453471" y="1068832"/>
            <a:ext cx="769294" cy="288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sz="1760" b="1">
                <a:solidFill>
                  <a:schemeClr val="tx2"/>
                </a:solidFill>
              </a:rPr>
              <a:t>2018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61245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JUL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37073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AUG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20568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SEP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9707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OCT</a:t>
            </a:r>
          </a:p>
        </p:txBody>
      </p:sp>
      <p:sp>
        <p:nvSpPr>
          <p:cNvPr id="54" name="Rectangle 53"/>
          <p:cNvSpPr/>
          <p:nvPr userDrawn="1"/>
        </p:nvSpPr>
        <p:spPr>
          <a:xfrm>
            <a:off x="7182507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NOV</a:t>
            </a:r>
          </a:p>
        </p:txBody>
      </p:sp>
      <p:sp>
        <p:nvSpPr>
          <p:cNvPr id="55" name="Rectangle 54"/>
          <p:cNvSpPr/>
          <p:nvPr userDrawn="1"/>
        </p:nvSpPr>
        <p:spPr>
          <a:xfrm>
            <a:off x="7858335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DEC</a:t>
            </a:r>
          </a:p>
        </p:txBody>
      </p:sp>
      <p:sp>
        <p:nvSpPr>
          <p:cNvPr id="56" name="Rectangle 55"/>
          <p:cNvSpPr/>
          <p:nvPr userDrawn="1"/>
        </p:nvSpPr>
        <p:spPr>
          <a:xfrm>
            <a:off x="8541829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JAN</a:t>
            </a:r>
          </a:p>
        </p:txBody>
      </p:sp>
      <p:sp>
        <p:nvSpPr>
          <p:cNvPr id="57" name="Rectangle 56"/>
          <p:cNvSpPr/>
          <p:nvPr userDrawn="1"/>
        </p:nvSpPr>
        <p:spPr>
          <a:xfrm>
            <a:off x="9220969" y="13965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FEB</a:t>
            </a:r>
          </a:p>
        </p:txBody>
      </p:sp>
      <p:sp>
        <p:nvSpPr>
          <p:cNvPr id="62" name="Rectangle 61"/>
          <p:cNvSpPr/>
          <p:nvPr userDrawn="1"/>
        </p:nvSpPr>
        <p:spPr>
          <a:xfrm>
            <a:off x="9900485" y="13972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MAR</a:t>
            </a:r>
          </a:p>
        </p:txBody>
      </p:sp>
      <p:sp>
        <p:nvSpPr>
          <p:cNvPr id="63" name="Rectangle 62"/>
          <p:cNvSpPr/>
          <p:nvPr userDrawn="1"/>
        </p:nvSpPr>
        <p:spPr>
          <a:xfrm>
            <a:off x="10576313" y="13972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APR</a:t>
            </a:r>
          </a:p>
        </p:txBody>
      </p:sp>
      <p:sp>
        <p:nvSpPr>
          <p:cNvPr id="64" name="Rectangle 63"/>
          <p:cNvSpPr/>
          <p:nvPr userDrawn="1"/>
        </p:nvSpPr>
        <p:spPr>
          <a:xfrm>
            <a:off x="11259808" y="13972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MAY</a:t>
            </a:r>
          </a:p>
        </p:txBody>
      </p:sp>
      <p:sp>
        <p:nvSpPr>
          <p:cNvPr id="65" name="Rectangle 64"/>
          <p:cNvSpPr/>
          <p:nvPr userDrawn="1"/>
        </p:nvSpPr>
        <p:spPr>
          <a:xfrm>
            <a:off x="11938947" y="1397255"/>
            <a:ext cx="664709" cy="2160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253" tIns="45253" rIns="45253" bIns="45253" rtlCol="0" anchor="ctr" anchorCtr="0"/>
          <a:lstStyle/>
          <a:p>
            <a:pPr algn="ctr"/>
            <a:r>
              <a:rPr lang="en-AU" sz="1131" b="1">
                <a:solidFill>
                  <a:schemeClr val="tx1"/>
                </a:solidFill>
              </a:rPr>
              <a:t>JUN</a:t>
            </a:r>
          </a:p>
        </p:txBody>
      </p:sp>
      <p:grpSp>
        <p:nvGrpSpPr>
          <p:cNvPr id="71" name="Group 70"/>
          <p:cNvGrpSpPr/>
          <p:nvPr userDrawn="1"/>
        </p:nvGrpSpPr>
        <p:grpSpPr>
          <a:xfrm>
            <a:off x="4458195" y="1356832"/>
            <a:ext cx="8145200" cy="36000"/>
            <a:chOff x="3546650" y="1356832"/>
            <a:chExt cx="6479793" cy="36000"/>
          </a:xfrm>
        </p:grpSpPr>
        <p:sp>
          <p:nvSpPr>
            <p:cNvPr id="46" name="Rectangle 45"/>
            <p:cNvSpPr/>
            <p:nvPr/>
          </p:nvSpPr>
          <p:spPr>
            <a:xfrm>
              <a:off x="3546650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087813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628976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170140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711303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252466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793629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334792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6" name="Rectangle 65"/>
            <p:cNvSpPr/>
            <p:nvPr userDrawn="1"/>
          </p:nvSpPr>
          <p:spPr>
            <a:xfrm>
              <a:off x="7874155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7" name="Rectangle 66"/>
            <p:cNvSpPr/>
            <p:nvPr userDrawn="1"/>
          </p:nvSpPr>
          <p:spPr>
            <a:xfrm>
              <a:off x="8415318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8" name="Rectangle 67"/>
            <p:cNvSpPr/>
            <p:nvPr userDrawn="1"/>
          </p:nvSpPr>
          <p:spPr>
            <a:xfrm>
              <a:off x="8956481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  <p:sp>
          <p:nvSpPr>
            <p:cNvPr id="69" name="Rectangle 68"/>
            <p:cNvSpPr/>
            <p:nvPr userDrawn="1"/>
          </p:nvSpPr>
          <p:spPr>
            <a:xfrm>
              <a:off x="9497644" y="1356832"/>
              <a:ext cx="528799" cy="36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AU" sz="1600" b="1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58726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274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2529" y="424084"/>
            <a:ext cx="11765665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2527" y="1310400"/>
            <a:ext cx="11765665" cy="5638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1413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07" r:id="rId2"/>
    <p:sldLayoutId id="2147483692" r:id="rId3"/>
    <p:sldLayoutId id="2147483760" r:id="rId4"/>
    <p:sldLayoutId id="2147483761" r:id="rId5"/>
    <p:sldLayoutId id="2147483776" r:id="rId6"/>
  </p:sldLayoutIdLst>
  <p:hf hdr="0" ftr="0" dt="0"/>
  <p:txStyles>
    <p:titleStyle>
      <a:lvl1pPr algn="l" defTabSz="1266984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316746" indent="-316746" algn="l" defTabSz="1266984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SzPct val="130000"/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50238" indent="-316746" algn="l" defTabSz="1266984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83731" indent="-316746" algn="l" defTabSz="1266984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2217222" indent="-316746" algn="l" defTabSz="1266984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850715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011" kern="1200">
          <a:solidFill>
            <a:schemeClr val="tx1"/>
          </a:solidFill>
          <a:latin typeface="+mn-lt"/>
          <a:ea typeface="+mn-ea"/>
          <a:cs typeface="+mn-cs"/>
        </a:defRPr>
      </a:lvl5pPr>
      <a:lvl6pPr marL="3484208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6pPr>
      <a:lvl7pPr marL="4117699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7pPr>
      <a:lvl8pPr marL="4751192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8pPr>
      <a:lvl9pPr marL="5384684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1pPr>
      <a:lvl2pPr marL="633493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2pPr>
      <a:lvl3pPr marL="1266984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3pPr>
      <a:lvl4pPr marL="1900477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4pPr>
      <a:lvl5pPr marL="2533969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5pPr>
      <a:lvl6pPr marL="3167462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6pPr>
      <a:lvl7pPr marL="3800953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7pPr>
      <a:lvl8pPr marL="4434446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8pPr>
      <a:lvl9pPr marL="5067937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4232" userDrawn="1">
          <p15:clr>
            <a:srgbClr val="F26B43"/>
          </p15:clr>
        </p15:guide>
        <p15:guide id="3" orient="horz" pos="680" userDrawn="1">
          <p15:clr>
            <a:srgbClr val="F26B43"/>
          </p15:clr>
        </p15:guide>
        <p15:guide id="4" pos="527" userDrawn="1">
          <p15:clr>
            <a:srgbClr val="F26B43"/>
          </p15:clr>
        </p15:guide>
        <p15:guide id="5" pos="7939" userDrawn="1">
          <p15:clr>
            <a:srgbClr val="F26B43"/>
          </p15:clr>
        </p15:guide>
        <p15:guide id="6" orient="horz" pos="437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A064C9D-F5B1-495A-89D6-D2F67C6D8FF2}"/>
              </a:ext>
            </a:extLst>
          </p:cNvPr>
          <p:cNvSpPr/>
          <p:nvPr userDrawn="1"/>
        </p:nvSpPr>
        <p:spPr>
          <a:xfrm>
            <a:off x="234" y="6948488"/>
            <a:ext cx="13439775" cy="619200"/>
          </a:xfrm>
          <a:prstGeom prst="rect">
            <a:avLst/>
          </a:prstGeom>
          <a:solidFill>
            <a:srgbClr val="3843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64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2529" y="454015"/>
            <a:ext cx="11765665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2527" y="1441580"/>
            <a:ext cx="11765665" cy="5427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"/>
          <p:cNvSpPr txBox="1">
            <a:spLocks/>
          </p:cNvSpPr>
          <p:nvPr userDrawn="1"/>
        </p:nvSpPr>
        <p:spPr>
          <a:xfrm>
            <a:off x="9915793" y="7073599"/>
            <a:ext cx="2688123" cy="360000"/>
          </a:xfrm>
          <a:prstGeom prst="rect">
            <a:avLst/>
          </a:prstGeom>
        </p:spPr>
        <p:txBody>
          <a:bodyPr lIns="45253" tIns="81275" rIns="45253" bIns="81275" anchor="ctr"/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110000"/>
              <a:buFont typeface="Calibri" panose="020F0502020204030204" pitchFamily="34" charset="0"/>
              <a:buNone/>
              <a:defRPr sz="900" b="1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SzPct val="100000"/>
              <a:buFont typeface="Symbol" panose="050501020107060205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14940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110000"/>
              <a:buFont typeface="Calibri" panose="020F0502020204030204" pitchFamily="34" charset="0"/>
              <a:buNone/>
              <a:tabLst/>
              <a:defRPr/>
            </a:pPr>
            <a:r>
              <a:rPr lang="en-AU" altLang="en-US" sz="1006" b="0">
                <a:solidFill>
                  <a:schemeClr val="bg1"/>
                </a:solidFill>
                <a:latin typeface="Calibri" pitchFamily="34" charset="0"/>
                <a:cs typeface="Calibri" panose="020F0502020204030204" pitchFamily="34" charset="0"/>
              </a:rPr>
              <a:t>PAGE </a:t>
            </a:r>
            <a:fld id="{E06041DF-FBFC-4303-8AF4-6858E9865FC5}" type="slidenum">
              <a:rPr lang="en-AU" altLang="en-US" sz="1006" b="0" smtClean="0">
                <a:solidFill>
                  <a:schemeClr val="bg1"/>
                </a:solidFill>
                <a:latin typeface="Calibri" pitchFamily="34" charset="0"/>
                <a:cs typeface="Calibri" panose="020F0502020204030204" pitchFamily="34" charset="0"/>
              </a:rPr>
              <a:pPr marL="0" marR="0" lvl="0" indent="0" algn="r" defTabSz="1149401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tx2"/>
                </a:buClr>
                <a:buSzPct val="110000"/>
                <a:buFont typeface="Calibri" panose="020F0502020204030204" pitchFamily="34" charset="0"/>
                <a:buNone/>
                <a:tabLst/>
                <a:defRPr/>
              </a:pPr>
              <a:t>‹#›</a:t>
            </a:fld>
            <a:endParaRPr lang="en-US" sz="1006" b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A42C5F-1D53-4D2D-B70C-A10AA0844035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59" y="7060925"/>
            <a:ext cx="1042446" cy="43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33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5" r:id="rId2"/>
    <p:sldLayoutId id="2147483758" r:id="rId3"/>
    <p:sldLayoutId id="2147483762" r:id="rId4"/>
    <p:sldLayoutId id="2147483742" r:id="rId5"/>
    <p:sldLayoutId id="2147483744" r:id="rId6"/>
    <p:sldLayoutId id="2147483746" r:id="rId7"/>
    <p:sldLayoutId id="2147483749" r:id="rId8"/>
    <p:sldLayoutId id="2147483750" r:id="rId9"/>
    <p:sldLayoutId id="2147483751" r:id="rId10"/>
    <p:sldLayoutId id="2147483741" r:id="rId11"/>
    <p:sldLayoutId id="2147483763" r:id="rId12"/>
  </p:sldLayoutIdLst>
  <p:hf hdr="0" ftr="0" dt="0"/>
  <p:txStyles>
    <p:titleStyle>
      <a:lvl1pPr algn="l" defTabSz="1266984" rtl="0" eaLnBrk="1" latinLnBrk="0" hangingPunct="1">
        <a:lnSpc>
          <a:spcPct val="100000"/>
        </a:lnSpc>
        <a:spcBef>
          <a:spcPct val="0"/>
        </a:spcBef>
        <a:buNone/>
        <a:defRPr sz="4000" kern="1200" cap="none" baseline="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0" indent="0" algn="l" defTabSz="1266984" rtl="0" eaLnBrk="1" latinLnBrk="0" hangingPunct="1">
        <a:lnSpc>
          <a:spcPct val="114000"/>
        </a:lnSpc>
        <a:spcBef>
          <a:spcPts val="1385"/>
        </a:spcBef>
        <a:buClr>
          <a:schemeClr val="tx1"/>
        </a:buClr>
        <a:buSzPct val="110000"/>
        <a:buFont typeface="Arial" panose="020B0604020202020204" pitchFamily="34" charset="0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266984" rtl="0" eaLnBrk="1" latinLnBrk="0" hangingPunct="1">
        <a:lnSpc>
          <a:spcPct val="114000"/>
        </a:lnSpc>
        <a:spcBef>
          <a:spcPts val="693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678466" indent="-339233" algn="l" defTabSz="1266984" rtl="0" eaLnBrk="1" latinLnBrk="0" hangingPunct="1">
        <a:lnSpc>
          <a:spcPct val="114000"/>
        </a:lnSpc>
        <a:spcBef>
          <a:spcPts val="693"/>
        </a:spcBef>
        <a:buClr>
          <a:schemeClr val="accent1"/>
        </a:buClr>
        <a:buSzPct val="13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013708" indent="-339233" algn="l" defTabSz="1266984" rtl="0" eaLnBrk="1" latinLnBrk="0" hangingPunct="1">
        <a:lnSpc>
          <a:spcPct val="114000"/>
        </a:lnSpc>
        <a:spcBef>
          <a:spcPts val="693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346955" indent="-339233" algn="l" defTabSz="1346955" rtl="0" eaLnBrk="1" latinLnBrk="0" hangingPunct="1">
        <a:lnSpc>
          <a:spcPct val="114000"/>
        </a:lnSpc>
        <a:spcBef>
          <a:spcPts val="693"/>
        </a:spcBef>
        <a:buFont typeface="Arial" panose="020B0604020202020204" pitchFamily="34" charset="0"/>
        <a:buChar char="•"/>
        <a:defRPr sz="3017" kern="1200">
          <a:solidFill>
            <a:schemeClr val="tx1"/>
          </a:solidFill>
          <a:latin typeface="+mn-lt"/>
          <a:ea typeface="+mn-ea"/>
          <a:cs typeface="+mn-cs"/>
        </a:defRPr>
      </a:lvl5pPr>
      <a:lvl6pPr marL="3484208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6pPr>
      <a:lvl7pPr marL="4117699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7pPr>
      <a:lvl8pPr marL="4751192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8pPr>
      <a:lvl9pPr marL="5384684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1pPr>
      <a:lvl2pPr marL="633493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2pPr>
      <a:lvl3pPr marL="1266984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3pPr>
      <a:lvl4pPr marL="1900477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4pPr>
      <a:lvl5pPr marL="2533969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5pPr>
      <a:lvl6pPr marL="3167462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6pPr>
      <a:lvl7pPr marL="3800953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7pPr>
      <a:lvl8pPr marL="4434446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8pPr>
      <a:lvl9pPr marL="5067937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4232" userDrawn="1">
          <p15:clr>
            <a:srgbClr val="F26B43"/>
          </p15:clr>
        </p15:guide>
        <p15:guide id="3" orient="horz" pos="567" userDrawn="1">
          <p15:clr>
            <a:srgbClr val="F26B43"/>
          </p15:clr>
        </p15:guide>
        <p15:guide id="4" pos="527" userDrawn="1">
          <p15:clr>
            <a:srgbClr val="F26B43"/>
          </p15:clr>
        </p15:guide>
        <p15:guide id="5" pos="7939" userDrawn="1">
          <p15:clr>
            <a:srgbClr val="F26B43"/>
          </p15:clr>
        </p15:guide>
        <p15:guide id="6" orient="horz" pos="437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2529" y="528832"/>
            <a:ext cx="11765665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2527" y="1216800"/>
            <a:ext cx="11765665" cy="565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 </a:t>
            </a:r>
            <a:endParaRPr lang="en-AU"/>
          </a:p>
        </p:txBody>
      </p:sp>
      <p:sp>
        <p:nvSpPr>
          <p:cNvPr id="14" name="Text Placeholder 2"/>
          <p:cNvSpPr txBox="1">
            <a:spLocks/>
          </p:cNvSpPr>
          <p:nvPr userDrawn="1"/>
        </p:nvSpPr>
        <p:spPr>
          <a:xfrm>
            <a:off x="9915793" y="6964704"/>
            <a:ext cx="2688123" cy="360000"/>
          </a:xfrm>
          <a:prstGeom prst="rect">
            <a:avLst/>
          </a:prstGeom>
        </p:spPr>
        <p:txBody>
          <a:bodyPr lIns="45253" tIns="81275" rIns="45253" bIns="81275" anchor="ctr"/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110000"/>
              <a:buFont typeface="Calibri" panose="020F0502020204030204" pitchFamily="34" charset="0"/>
              <a:buNone/>
              <a:defRPr sz="900" b="1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SzPct val="100000"/>
              <a:buFont typeface="Symbol" panose="050501020107060205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6" b="0"/>
              <a:t>COMMERCIAL-IN-CONFIDENCE</a:t>
            </a:r>
          </a:p>
          <a:p>
            <a:pPr marL="0" marR="0" lvl="0" indent="0" algn="r" defTabSz="114940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110000"/>
              <a:buFont typeface="Calibri" panose="020F0502020204030204" pitchFamily="34" charset="0"/>
              <a:buNone/>
              <a:tabLst/>
              <a:defRPr/>
            </a:pPr>
            <a:r>
              <a:rPr lang="en-US" sz="1006" b="0"/>
              <a:t>Version 1.2 FINAL  |  </a:t>
            </a:r>
            <a:r>
              <a:rPr lang="en-AU" altLang="en-US" sz="1006" b="0">
                <a:solidFill>
                  <a:schemeClr val="tx1">
                    <a:lumMod val="75000"/>
                  </a:schemeClr>
                </a:solidFill>
                <a:latin typeface="Calibri" pitchFamily="34" charset="0"/>
                <a:cs typeface="Calibri" panose="020F0502020204030204" pitchFamily="34" charset="0"/>
              </a:rPr>
              <a:t>PAGE </a:t>
            </a:r>
            <a:fld id="{E06041DF-FBFC-4303-8AF4-6858E9865FC5}" type="slidenum">
              <a:rPr lang="en-AU" altLang="en-US" sz="1006" b="0" smtClean="0">
                <a:solidFill>
                  <a:schemeClr val="tx1">
                    <a:lumMod val="75000"/>
                  </a:schemeClr>
                </a:solidFill>
                <a:latin typeface="Calibri" pitchFamily="34" charset="0"/>
                <a:cs typeface="Calibri" panose="020F0502020204030204" pitchFamily="34" charset="0"/>
              </a:rPr>
              <a:pPr marL="0" marR="0" lvl="0" indent="0" algn="r" defTabSz="1149401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tx2"/>
                </a:buClr>
                <a:buSzPct val="110000"/>
                <a:buFont typeface="Calibri" panose="020F0502020204030204" pitchFamily="34" charset="0"/>
                <a:buNone/>
                <a:tabLst/>
                <a:defRPr/>
              </a:pPr>
              <a:t>‹#›</a:t>
            </a:fld>
            <a:endParaRPr lang="en-US" sz="1006" b="0"/>
          </a:p>
        </p:txBody>
      </p:sp>
      <p:sp>
        <p:nvSpPr>
          <p:cNvPr id="15" name="Text Placeholder 2"/>
          <p:cNvSpPr txBox="1">
            <a:spLocks/>
          </p:cNvSpPr>
          <p:nvPr userDrawn="1"/>
        </p:nvSpPr>
        <p:spPr>
          <a:xfrm>
            <a:off x="10951578" y="7140255"/>
            <a:ext cx="995556" cy="216000"/>
          </a:xfrm>
          <a:prstGeom prst="rect">
            <a:avLst/>
          </a:prstGeom>
        </p:spPr>
        <p:txBody>
          <a:bodyPr lIns="45253" tIns="81275" rIns="45253" bIns="81275" anchor="ctr"/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110000"/>
              <a:buFont typeface="Calibri" panose="020F0502020204030204" pitchFamily="34" charset="0"/>
              <a:buNone/>
              <a:defRPr sz="900" b="1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SzPct val="100000"/>
              <a:buFont typeface="Symbol" panose="050501020107060205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6" b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489470"/>
            <a:ext cx="12607363" cy="13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877900" y="6957244"/>
            <a:ext cx="12607363" cy="13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C:\Users\ken\Desktop\Reason Templates\Reason Group Logo Set\Reason_Logo_Landscape\Reason_logo_transparent\PNG\Reason-logo-color-transparent-background.png">
            <a:extLst>
              <a:ext uri="{FF2B5EF4-FFF2-40B4-BE49-F238E27FC236}">
                <a16:creationId xmlns:a16="http://schemas.microsoft.com/office/drawing/2014/main" id="{79596C6F-6905-313C-3F11-AC351CBBED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49288" y="6989295"/>
            <a:ext cx="871912" cy="36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654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txStyles>
    <p:titleStyle>
      <a:lvl1pPr algn="l" defTabSz="1266984" rtl="0" eaLnBrk="1" latinLnBrk="0" hangingPunct="1">
        <a:lnSpc>
          <a:spcPct val="100000"/>
        </a:lnSpc>
        <a:spcBef>
          <a:spcPct val="0"/>
        </a:spcBef>
        <a:buNone/>
        <a:defRPr sz="2263" kern="1200" cap="all" baseline="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5491" indent="-225491" algn="l" defTabSz="1266984" rtl="0" eaLnBrk="1" latinLnBrk="0" hangingPunct="1">
        <a:lnSpc>
          <a:spcPct val="114000"/>
        </a:lnSpc>
        <a:spcBef>
          <a:spcPts val="1385"/>
        </a:spcBef>
        <a:buClr>
          <a:schemeClr val="tx1"/>
        </a:buClr>
        <a:buSzPct val="120000"/>
        <a:buFont typeface="Arial" panose="020B0604020202020204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1pPr>
      <a:lvl2pPr marL="452976" indent="-207531" algn="l" defTabSz="1266984" rtl="0" eaLnBrk="1" latinLnBrk="0" hangingPunct="1">
        <a:lnSpc>
          <a:spcPct val="114000"/>
        </a:lnSpc>
        <a:spcBef>
          <a:spcPts val="693"/>
        </a:spcBef>
        <a:buSzPct val="120000"/>
        <a:buFont typeface="Segoe UI" panose="020B0502040204020203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2pPr>
      <a:lvl3pPr marL="678466" indent="-205536" algn="l" defTabSz="1266984" rtl="0" eaLnBrk="1" latinLnBrk="0" hangingPunct="1">
        <a:lnSpc>
          <a:spcPct val="114000"/>
        </a:lnSpc>
        <a:spcBef>
          <a:spcPts val="693"/>
        </a:spcBef>
        <a:buSzPct val="120000"/>
        <a:buFont typeface="Segoe UI" panose="020B0502040204020203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3pPr>
      <a:lvl4pPr marL="905951" indent="-227486" algn="l" defTabSz="1266984" rtl="0" eaLnBrk="1" latinLnBrk="0" hangingPunct="1">
        <a:lnSpc>
          <a:spcPct val="114000"/>
        </a:lnSpc>
        <a:spcBef>
          <a:spcPts val="693"/>
        </a:spcBef>
        <a:buSzPct val="120000"/>
        <a:buFont typeface="Segoe UI" panose="020B0502040204020203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4pPr>
      <a:lvl5pPr marL="1131442" indent="-225491" algn="l" defTabSz="1266984" rtl="0" eaLnBrk="1" latinLnBrk="0" hangingPunct="1">
        <a:lnSpc>
          <a:spcPct val="114000"/>
        </a:lnSpc>
        <a:spcBef>
          <a:spcPts val="693"/>
        </a:spcBef>
        <a:buSzPct val="120000"/>
        <a:buFont typeface="Segoe UI" panose="020B0502040204020203" pitchFamily="34" charset="0"/>
        <a:buChar char="•"/>
        <a:defRPr sz="1257" kern="1200">
          <a:solidFill>
            <a:schemeClr val="tx1"/>
          </a:solidFill>
          <a:latin typeface="+mn-lt"/>
          <a:ea typeface="+mn-ea"/>
          <a:cs typeface="+mn-cs"/>
        </a:defRPr>
      </a:lvl5pPr>
      <a:lvl6pPr marL="3484208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6pPr>
      <a:lvl7pPr marL="4117699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7pPr>
      <a:lvl8pPr marL="4751192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8pPr>
      <a:lvl9pPr marL="5384684" indent="-316746" algn="l" defTabSz="126698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24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1pPr>
      <a:lvl2pPr marL="633493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2pPr>
      <a:lvl3pPr marL="1266984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3pPr>
      <a:lvl4pPr marL="1900477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4pPr>
      <a:lvl5pPr marL="2533969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5pPr>
      <a:lvl6pPr marL="3167462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6pPr>
      <a:lvl7pPr marL="3800953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7pPr>
      <a:lvl8pPr marL="4434446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8pPr>
      <a:lvl9pPr marL="5067937" algn="l" defTabSz="1266984" rtl="0" eaLnBrk="1" latinLnBrk="0" hangingPunct="1">
        <a:defRPr sz="24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>
          <p15:clr>
            <a:srgbClr val="F26B43"/>
          </p15:clr>
        </p15:guide>
        <p15:guide id="2" pos="4232">
          <p15:clr>
            <a:srgbClr val="F26B43"/>
          </p15:clr>
        </p15:guide>
        <p15:guide id="3" orient="horz" pos="567">
          <p15:clr>
            <a:srgbClr val="F26B43"/>
          </p15:clr>
        </p15:guide>
        <p15:guide id="4" pos="527">
          <p15:clr>
            <a:srgbClr val="F26B43"/>
          </p15:clr>
        </p15:guide>
        <p15:guide id="5" pos="7939">
          <p15:clr>
            <a:srgbClr val="F26B43"/>
          </p15:clr>
        </p15:guide>
        <p15:guide id="6" orient="horz" pos="437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hyperlink" Target="https://reasongroup.sharepoint.com/:x:/r/sites/business/Sales/Shared%20Documents/SAL-Support/Sales%20Dashboard.xlsx?d=wd3c1d14cc9174574a333f5cc0965a036&amp;csf=1&amp;web=1&amp;e=xGcovG" TargetMode="Externa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D4309-5149-FCFF-F55F-62F1979AA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VAT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D5323-ABDE-2C1F-498A-B1CAE6A0B5B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AU"/>
              <a:t>Sales Committee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D4DCC-A8C4-28C7-361B-D99ED56A30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AU">
                <a:latin typeface="Segoe UI"/>
                <a:cs typeface="Segoe UI"/>
              </a:rPr>
              <a:t>02/02/2026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61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DAFF VAT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111799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3DF8-0104-6599-4BC5-56B32149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2860B80-F5D5-998E-6AD0-44F655BE0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9" y="454015"/>
            <a:ext cx="11765665" cy="540000"/>
          </a:xfrm>
        </p:spPr>
        <p:txBody>
          <a:bodyPr/>
          <a:lstStyle/>
          <a:p>
            <a:r>
              <a:rPr lang="en-AU"/>
              <a:t>DAFF VAT Report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372D5-90DC-77E2-4697-BCB511CC95A1}"/>
              </a:ext>
            </a:extLst>
          </p:cNvPr>
          <p:cNvSpPr txBox="1"/>
          <p:nvPr/>
        </p:nvSpPr>
        <p:spPr>
          <a:xfrm>
            <a:off x="831581" y="1054594"/>
            <a:ext cx="4024439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23 February, 2026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D5F607-99CC-FC7D-E027-1BBABC9E8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038471"/>
              </p:ext>
            </p:extLst>
          </p:nvPr>
        </p:nvGraphicFramePr>
        <p:xfrm>
          <a:off x="1075038" y="1448548"/>
          <a:ext cx="11613544" cy="46101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8867106">
                  <a:extLst>
                    <a:ext uri="{9D8B030D-6E8A-4147-A177-3AD203B41FA5}">
                      <a16:colId xmlns:a16="http://schemas.microsoft.com/office/drawing/2014/main" val="3826788413"/>
                    </a:ext>
                  </a:extLst>
                </a:gridCol>
                <a:gridCol w="2084439">
                  <a:extLst>
                    <a:ext uri="{9D8B030D-6E8A-4147-A177-3AD203B41FA5}">
                      <a16:colId xmlns:a16="http://schemas.microsoft.com/office/drawing/2014/main" val="2087886997"/>
                    </a:ext>
                  </a:extLst>
                </a:gridCol>
                <a:gridCol w="661999">
                  <a:extLst>
                    <a:ext uri="{9D8B030D-6E8A-4147-A177-3AD203B41FA5}">
                      <a16:colId xmlns:a16="http://schemas.microsoft.com/office/drawing/2014/main" val="3380400846"/>
                    </a:ext>
                  </a:extLst>
                </a:gridCol>
              </a:tblGrid>
              <a:tr h="235704">
                <a:tc gridSpan="3">
                  <a:txBody>
                    <a:bodyPr/>
                    <a:lstStyle/>
                    <a:p>
                      <a:pPr algn="ctr"/>
                      <a:r>
                        <a:rPr lang="en-AU" sz="1050"/>
                        <a:t>Overall Status : </a:t>
                      </a:r>
                      <a:r>
                        <a:rPr lang="en-AU" sz="1050">
                          <a:solidFill>
                            <a:schemeClr val="tx1"/>
                          </a:solidFill>
                          <a:highlight>
                            <a:srgbClr val="FFC000"/>
                          </a:highlight>
                        </a:rPr>
                        <a:t>AMBER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423730"/>
                  </a:ext>
                </a:extLst>
              </a:tr>
              <a:tr h="235704">
                <a:tc rowSpan="6"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$1.84m gap to </a:t>
                      </a:r>
                      <a:r>
                        <a:rPr lang="en-AU" sz="1000" b="0" i="1" u="none" dirty="0"/>
                        <a:t>good</a:t>
                      </a:r>
                      <a:r>
                        <a:rPr lang="en-AU" sz="1000" b="0" i="0" u="none" dirty="0"/>
                        <a:t> revenue target, $1.2m gap to GM </a:t>
                      </a:r>
                      <a:r>
                        <a:rPr lang="en-AU" sz="1000" b="0" i="1" u="none" dirty="0"/>
                        <a:t>good </a:t>
                      </a:r>
                      <a:r>
                        <a:rPr lang="en-AU" sz="1000" b="0" i="0" u="none" dirty="0"/>
                        <a:t>target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Open </a:t>
                      </a:r>
                      <a:r>
                        <a:rPr lang="en-AU" sz="1000" b="0" i="0" u="none" dirty="0" err="1"/>
                        <a:t>opps</a:t>
                      </a:r>
                      <a:r>
                        <a:rPr lang="en-AU" sz="1000" b="0" i="0" u="none" dirty="0"/>
                        <a:t> pipeline is: </a:t>
                      </a:r>
                    </a:p>
                    <a:p>
                      <a:pPr marL="804943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Total Value $</a:t>
                      </a:r>
                      <a:r>
                        <a:rPr lang="en-AU" sz="1000" b="0" i="0" u="none"/>
                        <a:t>3.13m revenue</a:t>
                      </a:r>
                      <a:endParaRPr lang="en-AU" sz="1000" b="0" i="0" u="none" dirty="0"/>
                    </a:p>
                    <a:p>
                      <a:pPr marL="804943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33% good, 60% Fair, 7% at risk</a:t>
                      </a:r>
                    </a:p>
                    <a:p>
                      <a:pPr marL="804943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DF+ = $841k</a:t>
                      </a:r>
                    </a:p>
                    <a:p>
                      <a:pPr marL="171450" marR="0" lvl="0" indent="-17145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000" b="0" i="0" u="none" dirty="0"/>
                        <a:t>Aim is to have around $4m in pipeline, with 2 week sprint focus on open </a:t>
                      </a:r>
                      <a:r>
                        <a:rPr lang="en-AU" sz="1000" b="0" i="0" u="none" dirty="0" err="1"/>
                        <a:t>opps</a:t>
                      </a:r>
                      <a:r>
                        <a:rPr lang="en-AU" sz="1000" b="0" i="0" u="none" dirty="0"/>
                        <a:t> with a view to move (advance or drop)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Strengthened operational management of the VAT to focus attention and manage pipeline health and reinforced strategic planning cycle (monthly sessions, quarterly full account plan update – do we have the right actions for the right things?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AU" sz="1000" b="0" i="0" u="none" dirty="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AU" sz="1000" b="1" i="0" u="none" dirty="0"/>
                        <a:t>Approach to target shortfall: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dirty="0"/>
                        <a:t>Priority 1: Opportunities in STEPS to accelerate draw down on STEPS head contract – services (priority), and roles: current view  $750k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dirty="0"/>
                        <a:t>Priority 2: Opportunities to draw beyond current TCV and push budget top up  (live work leading into bigger </a:t>
                      </a:r>
                      <a:r>
                        <a:rPr lang="en-US" sz="1000" b="0" i="0" u="none" dirty="0" err="1"/>
                        <a:t>opp</a:t>
                      </a:r>
                      <a:r>
                        <a:rPr lang="en-US" sz="1000" b="0" i="0" u="none" dirty="0"/>
                        <a:t>)– e.g. Cross-Border Trade Comeback: current view of $1m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dirty="0"/>
                        <a:t>Priority 3: Opps outside of STEPS and head contract: $1.07m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dirty="0"/>
                        <a:t>Revisiting FYI folder to assess relevant </a:t>
                      </a:r>
                      <a:r>
                        <a:rPr lang="en-US" sz="1000" b="0" i="0" u="none" dirty="0" err="1"/>
                        <a:t>opps</a:t>
                      </a:r>
                      <a:r>
                        <a:rPr lang="en-US" sz="1000" b="0" i="0" u="none" dirty="0"/>
                        <a:t> to reinvigorate.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dirty="0"/>
                        <a:t>Priority 4: Opps beyond DAFF itself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AU" sz="1000" b="0" i="0" u="none" dirty="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AU" sz="1000" b="1" i="0" u="none" dirty="0"/>
                        <a:t>DAFF</a:t>
                      </a:r>
                      <a:r>
                        <a:rPr lang="en-AU" sz="1000" b="0" i="0" u="none" dirty="0"/>
                        <a:t>: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Submitted, pushed to April - SNOW for Exports (LAE - $533k). Working up possible solutions to move forward with SNOW.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NPP is developing – forecast 1 Apr.  Workplans for focus areas (FPP, AI trade assistant, Unified Portal) to solidify and expand work for Feb-Apr with a view to securing business case development May-Nov.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AU" sz="1000" b="0" i="0" u="none" dirty="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AU" sz="1000" b="1" i="0" u="none" dirty="0"/>
                        <a:t>DCCEW</a:t>
                      </a:r>
                      <a:r>
                        <a:rPr lang="en-AU" sz="1000" b="0" i="0" u="none" dirty="0"/>
                        <a:t>: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b="0" i="0" u="none" dirty="0"/>
                        <a:t>Focus is relationships, view on </a:t>
                      </a:r>
                      <a:r>
                        <a:rPr lang="en-AU" sz="1000" b="0" i="0" u="none" dirty="0" err="1"/>
                        <a:t>opps</a:t>
                      </a:r>
                      <a:r>
                        <a:rPr lang="en-AU" sz="1000" b="0" i="0" u="none" dirty="0"/>
                        <a:t> by 31 March – awaiting CR for extension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AU" sz="1000" b="0" i="0" u="none" dirty="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AU" sz="1000" b="1" i="0" u="none" dirty="0"/>
                        <a:t>Other VAT activities: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i="0" u="none" dirty="0"/>
                        <a:t>Big play activity is focused on diversifying out of STEPS and DBD – e.g. PPM tool RFQ expected Q4 ($ TBC)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000" i="0" u="none" dirty="0"/>
                        <a:t>Relationships – monitoring exec movements  - new Secretary, likely new B1 @ STEPS (March)</a:t>
                      </a:r>
                      <a:r>
                        <a:rPr lang="en-AU" sz="1000" b="0" i="0" u="none" dirty="0"/>
                        <a:t> and potential new DSSS lead</a:t>
                      </a:r>
                      <a:endParaRPr lang="en-AU" sz="1000" i="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Open Opps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711388"/>
                  </a:ext>
                </a:extLst>
              </a:tr>
              <a:tr h="257933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Big Plays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767909"/>
                  </a:ext>
                </a:extLst>
              </a:tr>
              <a:tr h="235704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Account Goals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459770"/>
                  </a:ext>
                </a:extLst>
              </a:tr>
              <a:tr h="235704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Relationships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80268"/>
                  </a:ext>
                </a:extLst>
              </a:tr>
              <a:tr h="235704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Research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16164"/>
                  </a:ext>
                </a:extLst>
              </a:tr>
              <a:tr h="1939662">
                <a:tc vMerge="1"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AU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endParaRPr lang="en-AU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92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14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3370AD-5F93-B03C-B047-F8B3D6DE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9" y="454015"/>
            <a:ext cx="11765665" cy="540000"/>
          </a:xfrm>
        </p:spPr>
        <p:txBody>
          <a:bodyPr/>
          <a:lstStyle/>
          <a:p>
            <a:r>
              <a:rPr lang="en-AU"/>
              <a:t>DAFF VAT Report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EEEFF0-2F4E-99BC-259A-8A183E8C25A5}"/>
              </a:ext>
            </a:extLst>
          </p:cNvPr>
          <p:cNvSpPr txBox="1"/>
          <p:nvPr/>
        </p:nvSpPr>
        <p:spPr>
          <a:xfrm>
            <a:off x="831581" y="1054594"/>
            <a:ext cx="4024439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23 February, 2026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3D3756C-A871-9A9C-73D8-5B2C20486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879584"/>
              </p:ext>
            </p:extLst>
          </p:nvPr>
        </p:nvGraphicFramePr>
        <p:xfrm>
          <a:off x="913114" y="2216940"/>
          <a:ext cx="11613546" cy="49158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28733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1342742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1263903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023660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838197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28275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1236506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1093374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175887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175887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06382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428399">
                <a:tc>
                  <a:txBody>
                    <a:bodyPr/>
                    <a:lstStyle/>
                    <a:p>
                      <a:r>
                        <a:rPr lang="en-AU" sz="90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479807">
                <a:tc>
                  <a:txBody>
                    <a:bodyPr/>
                    <a:lstStyle/>
                    <a:p>
                      <a:r>
                        <a:rPr lang="en-AU" sz="800"/>
                        <a:t>Aleks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Miss digital transformation comeback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/>
                        <a:t>Significant impact to revenue</a:t>
                      </a:r>
                    </a:p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April 2026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Build opps outside of DBD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799674"/>
                  </a:ext>
                </a:extLst>
              </a:tr>
              <a:tr h="479807"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Budget check in needed post June 30 for STEPS Head contract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Risk of diminished funding for head contract 1 July-30 Sep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1 June 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Build opps outside of DBD/STEPS</a:t>
                      </a:r>
                    </a:p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153314"/>
                  </a:ext>
                </a:extLst>
              </a:tr>
              <a:tr h="479807"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Grant Nay appointed STEPS 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Likely to constrict RG work at STEPS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15 March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Building relationship via gateway 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923172"/>
                  </a:ext>
                </a:extLst>
              </a:tr>
              <a:tr h="479807">
                <a:tc>
                  <a:txBody>
                    <a:bodyPr/>
                    <a:lstStyle/>
                    <a:p>
                      <a:r>
                        <a:rPr lang="en-AU" sz="800"/>
                        <a:t>EC/Joelle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Knowledge concentration risk - </a:t>
                      </a:r>
                      <a:r>
                        <a:rPr lang="en-US" sz="800"/>
                        <a:t>Critical knowledge residing with individuals rather than artefacts or secondary resources</a:t>
                      </a: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Critical POF for knowledge at DAFF.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30 April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Cross‑skilling, documented artefacts, backup allocations -</a:t>
                      </a:r>
                    </a:p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Tim onboarded, actively seeking another consultant to fall in behind Tim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117831"/>
                  </a:ext>
                </a:extLst>
              </a:tr>
              <a:tr h="479807">
                <a:tc>
                  <a:txBody>
                    <a:bodyPr/>
                    <a:lstStyle/>
                    <a:p>
                      <a:r>
                        <a:rPr lang="en-AU" sz="800"/>
                        <a:t>EC/Joelle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Relationship dependency on specific executives</a:t>
                      </a: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SPOF for accounts, and progression of </a:t>
                      </a:r>
                      <a:r>
                        <a:rPr lang="en-AU" sz="800" err="1"/>
                        <a:t>opps</a:t>
                      </a: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30 April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Broaden exec relationships (left/right/up); formal governance</a:t>
                      </a: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043828"/>
                  </a:ext>
                </a:extLst>
              </a:tr>
              <a:tr h="479807">
                <a:tc>
                  <a:txBody>
                    <a:bodyPr/>
                    <a:lstStyle/>
                    <a:p>
                      <a:pPr marL="0" marR="0" lvl="0" indent="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/>
                        <a:t>EC/Joelle</a:t>
                      </a:r>
                    </a:p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ServiceNow resistance within client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Cultural and contractor resistance to ServiceNow limits conversion of ServiceNow opportunities – inability to close </a:t>
                      </a:r>
                      <a:r>
                        <a:rPr lang="en-US" sz="800" err="1"/>
                        <a:t>opps</a:t>
                      </a: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30 April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/>
                        <a:t>Executive escalation pathway; targeted briefings</a:t>
                      </a:r>
                      <a:endParaRPr lang="en-AU" sz="800"/>
                    </a:p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056627"/>
                  </a:ext>
                </a:extLst>
              </a:tr>
              <a:tr h="479807">
                <a:tc>
                  <a:txBody>
                    <a:bodyPr/>
                    <a:lstStyle/>
                    <a:p>
                      <a:pPr marL="0" marR="0" lvl="0" indent="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/>
                        <a:t>EC/Joelle</a:t>
                      </a:r>
                    </a:p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Revenue not invoiced as forecast</a:t>
                      </a:r>
                    </a:p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Risk that forecast revenue on in‑flight projects is not fully billable or collectable due to client disputes or scope changes</a:t>
                      </a: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31 May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Joelle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Review each project for invoice risk; bring to MC with variance explanation</a:t>
                      </a: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4375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CB78D89-B04E-2A07-E6CF-7DE8886B2AE3}"/>
              </a:ext>
            </a:extLst>
          </p:cNvPr>
          <p:cNvSpPr txBox="1"/>
          <p:nvPr/>
        </p:nvSpPr>
        <p:spPr>
          <a:xfrm>
            <a:off x="913113" y="1877483"/>
            <a:ext cx="2175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/>
              <a:t>Risks</a:t>
            </a:r>
          </a:p>
        </p:txBody>
      </p:sp>
    </p:spTree>
    <p:extLst>
      <p:ext uri="{BB962C8B-B14F-4D97-AF65-F5344CB8AC3E}">
        <p14:creationId xmlns:p14="http://schemas.microsoft.com/office/powerpoint/2010/main" val="3309298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5F1E7-9D20-0D23-CF95-D91CE5A81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A64AE-9F18-0A9E-5C99-52C427DA7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200"/>
              <a:t>DAFF VAT: Strengthening Operational 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099B1B-3417-54AE-4562-8DE143C782C3}"/>
              </a:ext>
            </a:extLst>
          </p:cNvPr>
          <p:cNvSpPr/>
          <p:nvPr/>
        </p:nvSpPr>
        <p:spPr>
          <a:xfrm>
            <a:off x="1028700" y="2135544"/>
            <a:ext cx="3676650" cy="3194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Strengthened focus on activity pipeline management</a:t>
            </a:r>
          </a:p>
          <a:p>
            <a:pPr algn="ctr"/>
            <a:endParaRPr lang="en-US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>
                    <a:lumMod val="50000"/>
                  </a:schemeClr>
                </a:solidFill>
              </a:rPr>
              <a:t>2 week sprint focus on open </a:t>
            </a:r>
            <a:r>
              <a:rPr lang="en-US" sz="1400" err="1">
                <a:solidFill>
                  <a:schemeClr val="accent1">
                    <a:lumMod val="50000"/>
                  </a:schemeClr>
                </a:solidFill>
              </a:rPr>
              <a:t>opps</a:t>
            </a:r>
            <a:r>
              <a:rPr lang="en-US" sz="1400">
                <a:solidFill>
                  <a:schemeClr val="accent1">
                    <a:lumMod val="50000"/>
                  </a:schemeClr>
                </a:solidFill>
              </a:rPr>
              <a:t> – dedicated sprints to move </a:t>
            </a:r>
            <a:r>
              <a:rPr lang="en-US" sz="1400" err="1">
                <a:solidFill>
                  <a:schemeClr val="accent1">
                    <a:lumMod val="50000"/>
                  </a:schemeClr>
                </a:solidFill>
              </a:rPr>
              <a:t>opps</a:t>
            </a:r>
            <a:r>
              <a:rPr lang="en-US" sz="1400">
                <a:solidFill>
                  <a:schemeClr val="accent1">
                    <a:lumMod val="50000"/>
                  </a:schemeClr>
                </a:solidFill>
              </a:rPr>
              <a:t> along or demote if appropriate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>
                    <a:lumMod val="50000"/>
                  </a:schemeClr>
                </a:solidFill>
              </a:rPr>
              <a:t>Risk management lens on </a:t>
            </a:r>
            <a:r>
              <a:rPr lang="en-US" sz="1400" err="1">
                <a:solidFill>
                  <a:schemeClr val="accent1">
                    <a:lumMod val="50000"/>
                  </a:schemeClr>
                </a:solidFill>
              </a:rPr>
              <a:t>opps</a:t>
            </a:r>
            <a:endParaRPr lang="en-US" sz="140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E73BB7-9FA3-66BB-6A59-2656FDBF0D8E}"/>
              </a:ext>
            </a:extLst>
          </p:cNvPr>
          <p:cNvSpPr/>
          <p:nvPr/>
        </p:nvSpPr>
        <p:spPr>
          <a:xfrm>
            <a:off x="8775700" y="2135544"/>
            <a:ext cx="3676650" cy="3194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AI VAT support</a:t>
            </a:r>
          </a:p>
          <a:p>
            <a:pPr lvl="1"/>
            <a:endParaRPr lang="en-AU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>
                <a:solidFill>
                  <a:schemeClr val="accent1">
                    <a:lumMod val="50000"/>
                  </a:schemeClr>
                </a:solidFill>
              </a:rPr>
              <a:t>Strategic planning, including Account Plan document support (agent in development for strategic insights and actions)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>
                <a:solidFill>
                  <a:schemeClr val="accent1">
                    <a:lumMod val="50000"/>
                  </a:schemeClr>
                </a:solidFill>
              </a:rPr>
              <a:t>Automation of research bucket in VAT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>
                <a:solidFill>
                  <a:schemeClr val="accent1">
                    <a:lumMod val="50000"/>
                  </a:schemeClr>
                </a:solidFill>
              </a:rPr>
              <a:t>AI support for CX updates </a:t>
            </a:r>
          </a:p>
          <a:p>
            <a:pPr algn="ctr"/>
            <a:endParaRPr lang="en-US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0928B-EBF7-8D80-3970-B7FE506D7103}"/>
              </a:ext>
            </a:extLst>
          </p:cNvPr>
          <p:cNvSpPr/>
          <p:nvPr/>
        </p:nvSpPr>
        <p:spPr>
          <a:xfrm>
            <a:off x="4902200" y="2135544"/>
            <a:ext cx="3676650" cy="3194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Updated VAT meeting and reinforced planning cadence </a:t>
            </a:r>
          </a:p>
          <a:p>
            <a:pPr algn="ctr"/>
            <a:endParaRPr lang="en-AU" b="1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>
                    <a:lumMod val="50000"/>
                  </a:schemeClr>
                </a:solidFill>
              </a:rPr>
              <a:t>Additional monthly session for VAT Strat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>
                    <a:lumMod val="50000"/>
                  </a:schemeClr>
                </a:solidFill>
              </a:rPr>
              <a:t>Weekly tactical VAT meetings: cycle through priority bucket each 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>
                    <a:lumMod val="50000"/>
                  </a:schemeClr>
                </a:solidFill>
              </a:rPr>
              <a:t>Quarterly Account Plan update</a:t>
            </a:r>
          </a:p>
          <a:p>
            <a:pPr algn="ctr"/>
            <a:endParaRPr lang="en-US" b="1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851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2F8C6-2027-8DF1-04BE-B39BAC640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C0E7F9D-78D2-D485-8F6B-73A8A622F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SAU VAT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292592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BDFF1-9695-F5CA-2EDA-881FA02F4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BD4FD51-3982-DDFC-B9E4-46C3E1C72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9" y="454015"/>
            <a:ext cx="11765665" cy="540000"/>
          </a:xfrm>
        </p:spPr>
        <p:txBody>
          <a:bodyPr/>
          <a:lstStyle/>
          <a:p>
            <a:r>
              <a:rPr lang="en-AU"/>
              <a:t>VAT Report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43186-2974-C8AD-093F-EC5156F2849C}"/>
              </a:ext>
            </a:extLst>
          </p:cNvPr>
          <p:cNvSpPr txBox="1"/>
          <p:nvPr/>
        </p:nvSpPr>
        <p:spPr>
          <a:xfrm>
            <a:off x="842529" y="945514"/>
            <a:ext cx="5779251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Week Ending </a:t>
            </a:r>
            <a:r>
              <a:rPr lang="en-AU">
                <a:solidFill>
                  <a:srgbClr val="FF0000"/>
                </a:solidFill>
              </a:rPr>
              <a:t>12 September (last reporting cycle)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252881-C171-E1DE-835F-5037FB266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501080"/>
              </p:ext>
            </p:extLst>
          </p:nvPr>
        </p:nvGraphicFramePr>
        <p:xfrm>
          <a:off x="842529" y="1308716"/>
          <a:ext cx="11765664" cy="1807176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9019226">
                  <a:extLst>
                    <a:ext uri="{9D8B030D-6E8A-4147-A177-3AD203B41FA5}">
                      <a16:colId xmlns:a16="http://schemas.microsoft.com/office/drawing/2014/main" val="3826788413"/>
                    </a:ext>
                  </a:extLst>
                </a:gridCol>
                <a:gridCol w="2084439">
                  <a:extLst>
                    <a:ext uri="{9D8B030D-6E8A-4147-A177-3AD203B41FA5}">
                      <a16:colId xmlns:a16="http://schemas.microsoft.com/office/drawing/2014/main" val="2087886997"/>
                    </a:ext>
                  </a:extLst>
                </a:gridCol>
                <a:gridCol w="661999">
                  <a:extLst>
                    <a:ext uri="{9D8B030D-6E8A-4147-A177-3AD203B41FA5}">
                      <a16:colId xmlns:a16="http://schemas.microsoft.com/office/drawing/2014/main" val="3380400846"/>
                    </a:ext>
                  </a:extLst>
                </a:gridCol>
              </a:tblGrid>
              <a:tr h="301196">
                <a:tc gridSpan="3">
                  <a:txBody>
                    <a:bodyPr/>
                    <a:lstStyle/>
                    <a:p>
                      <a:pPr algn="ctr"/>
                      <a:r>
                        <a:rPr lang="en-AU" sz="1200"/>
                        <a:t>Overall 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423730"/>
                  </a:ext>
                </a:extLst>
              </a:tr>
              <a:tr h="301196">
                <a:tc rowSpan="5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Replacement PM for Ben C is underway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SAU bid for Data Migration with EY submitted, awaiting response however SA ERP project is canned.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S4HANA migration is continuing pending SPBC outcome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BRE RFI to be release within this week, but we shouldn't respond as it is meant for only product vendors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Post BRE RFI there is a plan to run a pilot for 2 years but from FY 26-28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No significant movement in Labour hire resources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MYEFO decision wasn't strong, all POC have been given go ahead with BAU money. No additional budget allocated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AU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Status Overall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711388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Open Opps Actions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767909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Big Plays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459770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Account Goals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80268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Relationships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1616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1CD711-D8D4-3AE2-9ECC-B8FBB9972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706418"/>
              </p:ext>
            </p:extLst>
          </p:nvPr>
        </p:nvGraphicFramePr>
        <p:xfrm>
          <a:off x="831581" y="3578249"/>
          <a:ext cx="11765665" cy="18516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39588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1360330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1280458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037069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849176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39124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1252702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1107696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16944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146418">
                <a:tc>
                  <a:txBody>
                    <a:bodyPr/>
                    <a:lstStyle/>
                    <a:p>
                      <a:r>
                        <a:rPr lang="en-AU" sz="10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r>
                        <a:rPr lang="en-AU" sz="800"/>
                        <a:t>Sidd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Hiring freeze is Services Australia due to funding inadequacy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Significant impact to revenue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01/08/2025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Sidd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VERY 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No current mitigation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  <a:tr h="1311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/>
                        <a:t>Sidd</a:t>
                      </a:r>
                      <a:endParaRPr 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/>
                        <a:t>MYEFO did not provide any additional funding however POC's for second pass business case was given a go ahead with BAU budget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Significant impact to revenue</a:t>
                      </a:r>
                      <a:endParaRPr 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/>
                        <a:t>20/10/2025</a:t>
                      </a:r>
                      <a:endParaRPr 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/>
                        <a:t>Open</a:t>
                      </a:r>
                      <a:endParaRPr 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/>
                        <a:t>Sidd</a:t>
                      </a:r>
                      <a:endParaRPr 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/>
                        <a:t>VERY HIGH</a:t>
                      </a:r>
                      <a:endParaRPr 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/>
                        <a:t>HIGH</a:t>
                      </a:r>
                      <a:endParaRPr 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No current mitigation.</a:t>
                      </a:r>
                      <a:endParaRPr 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9565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6CA2445-F425-4237-0440-F617A2287B36}"/>
              </a:ext>
            </a:extLst>
          </p:cNvPr>
          <p:cNvSpPr txBox="1"/>
          <p:nvPr/>
        </p:nvSpPr>
        <p:spPr>
          <a:xfrm>
            <a:off x="831581" y="3270472"/>
            <a:ext cx="2276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/>
              <a:t>Issues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BC80D94-2951-D32C-B932-06451A84C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195300"/>
              </p:ext>
            </p:extLst>
          </p:nvPr>
        </p:nvGraphicFramePr>
        <p:xfrm>
          <a:off x="831580" y="5631947"/>
          <a:ext cx="11765665" cy="12725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39588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1360330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1280458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037069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849176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39124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1252702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1107696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16944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146418">
                <a:tc>
                  <a:txBody>
                    <a:bodyPr/>
                    <a:lstStyle/>
                    <a:p>
                      <a:r>
                        <a:rPr lang="en-AU" sz="10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r>
                        <a:rPr lang="en-AU" sz="800"/>
                        <a:t>Sidd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SA ERP project has been canned, and majority of contractors has been let go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Lose EY bid for Data Migration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1/12/2025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Sidd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VERY 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80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Sidd to talk to Ian to understand if that bid is going to be used for S4HANA migration.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AU" sz="8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S4HANA migration is continuing hence part of the bid where we had our resources is still relevant.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36A7B45-5655-C722-717C-29B75BB55BAB}"/>
              </a:ext>
            </a:extLst>
          </p:cNvPr>
          <p:cNvSpPr txBox="1"/>
          <p:nvPr/>
        </p:nvSpPr>
        <p:spPr>
          <a:xfrm>
            <a:off x="842529" y="5386666"/>
            <a:ext cx="2175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/>
              <a:t>Risks</a:t>
            </a:r>
          </a:p>
        </p:txBody>
      </p:sp>
    </p:spTree>
    <p:extLst>
      <p:ext uri="{BB962C8B-B14F-4D97-AF65-F5344CB8AC3E}">
        <p14:creationId xmlns:p14="http://schemas.microsoft.com/office/powerpoint/2010/main" val="1682673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7024D-55CD-A022-5AB5-053D6D0A8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9E85-17AA-677B-2B0F-45C8867D3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486" y="258523"/>
            <a:ext cx="11765665" cy="540000"/>
          </a:xfrm>
        </p:spPr>
        <p:txBody>
          <a:bodyPr/>
          <a:lstStyle/>
          <a:p>
            <a:r>
              <a:rPr lang="en-AU"/>
              <a:t>VAT PLANNER STATUS UPDATE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330C1D-169D-F64C-1C93-595989F14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39" y="1513973"/>
            <a:ext cx="12738296" cy="336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587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42591-613C-BF8D-B883-46A03D295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A028CC1-2E11-E75E-A0A2-B9DBB72E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err="1"/>
              <a:t>VICGov</a:t>
            </a:r>
            <a:r>
              <a:rPr lang="en-AU"/>
              <a:t> VAT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428379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40127-8947-E462-7BC4-6E45E54F6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C3F9116-0EDE-017F-E8C1-8FD54778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9" y="3848"/>
            <a:ext cx="11765665" cy="540000"/>
          </a:xfrm>
        </p:spPr>
        <p:txBody>
          <a:bodyPr/>
          <a:lstStyle/>
          <a:p>
            <a:r>
              <a:rPr lang="en-AU"/>
              <a:t>VAT Report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142D59-7530-5265-D7FE-B166BD615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52435"/>
              </p:ext>
            </p:extLst>
          </p:nvPr>
        </p:nvGraphicFramePr>
        <p:xfrm>
          <a:off x="842530" y="877904"/>
          <a:ext cx="12226356" cy="2236676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9940356">
                  <a:extLst>
                    <a:ext uri="{9D8B030D-6E8A-4147-A177-3AD203B41FA5}">
                      <a16:colId xmlns:a16="http://schemas.microsoft.com/office/drawing/2014/main" val="3826788413"/>
                    </a:ext>
                  </a:extLst>
                </a:gridCol>
                <a:gridCol w="1598080">
                  <a:extLst>
                    <a:ext uri="{9D8B030D-6E8A-4147-A177-3AD203B41FA5}">
                      <a16:colId xmlns:a16="http://schemas.microsoft.com/office/drawing/2014/main" val="2087886997"/>
                    </a:ext>
                  </a:extLst>
                </a:gridCol>
                <a:gridCol w="687920">
                  <a:extLst>
                    <a:ext uri="{9D8B030D-6E8A-4147-A177-3AD203B41FA5}">
                      <a16:colId xmlns:a16="http://schemas.microsoft.com/office/drawing/2014/main" val="3380400846"/>
                    </a:ext>
                  </a:extLst>
                </a:gridCol>
              </a:tblGrid>
              <a:tr h="301196">
                <a:tc gridSpan="3">
                  <a:txBody>
                    <a:bodyPr/>
                    <a:lstStyle/>
                    <a:p>
                      <a:pPr algn="ctr"/>
                      <a:r>
                        <a:rPr lang="en-AU" sz="1200"/>
                        <a:t>Overall Status : AMBER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423730"/>
                  </a:ext>
                </a:extLst>
              </a:tr>
              <a:tr h="301196">
                <a:tc rowSpan="5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SRO modernisation engagement ending on the 16</a:t>
                      </a:r>
                      <a:r>
                        <a:rPr lang="en-AU" sz="1100" baseline="30000"/>
                        <a:t>th</a:t>
                      </a:r>
                      <a:r>
                        <a:rPr lang="en-AU" sz="1100"/>
                        <a:t> of February, resources already being rolled off. Plan for IBC to be completed internally. Two options being developed to meet Commissioners requirements, one Oracle and one Pega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SRO – Panel agreement in review, expect contracts to be signed mid March, identified some Revenue Reform and Shared Services work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DJSIR – panel expected out this week, $600K of business directly to Reason, $1.2M project for regions expected soon after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DEECA – Pega submission under review, 9 responses being shortlisted to 3. We have a strong chance dependent on budget and BAFO</a:t>
                      </a:r>
                    </a:p>
                    <a:p>
                      <a:pPr marL="171450" marR="0" lvl="0" indent="-17145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100" err="1"/>
                        <a:t>CenITex</a:t>
                      </a:r>
                      <a:r>
                        <a:rPr lang="en-AU" sz="1100"/>
                        <a:t> / DGS – Lots of opportunities, initially strategy piece for relaunch of one VPS (based on Silver report) and DGS roadmap to support ROI initiative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EMV – two projects expected to come out Feb 2026, portal and mobile phone app circa $2m combined. Alex to meet CIO in February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DFFH – require a PoC and business case to secure funding for larger ICCMS replacement (SNOW, Dynamics and Pega probably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Healthshare – RFI response submitted (thanks Sidd) based on some clues from the customer what solution they wanted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BlueScope Steel – Two large projects given the go ahead, meeting GM and Program Director in next 7 days, need to have our panel arrangement fixed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Transport NSW / NSW Gov – Need a strategy for NSW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Status Overall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711388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Open Opps Actions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767909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Big Plays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459770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Account Goals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80268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Relationships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1616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7B7B9F-F30D-B16F-8718-3259EABC6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471104"/>
              </p:ext>
            </p:extLst>
          </p:nvPr>
        </p:nvGraphicFramePr>
        <p:xfrm>
          <a:off x="831580" y="3579572"/>
          <a:ext cx="12226356" cy="19583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95851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2017721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1752117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785432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664596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15640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747497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934132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647554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211156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54660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146418">
                <a:tc>
                  <a:txBody>
                    <a:bodyPr/>
                    <a:lstStyle/>
                    <a:p>
                      <a:r>
                        <a:rPr lang="en-AU" sz="9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r>
                        <a:rPr lang="en-AU" sz="950"/>
                        <a:t>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DEECA response higher than 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May stop Reason from being selected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13/2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/>
                        <a:t>Open</a:t>
                      </a:r>
                    </a:p>
                    <a:p>
                      <a:endParaRPr lang="en-AU" sz="95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Agree BAFO with </a:t>
                      </a:r>
                      <a:r>
                        <a:rPr lang="en-AU" sz="950" err="1"/>
                        <a:t>Aaseys</a:t>
                      </a:r>
                      <a:r>
                        <a:rPr lang="en-AU" sz="950"/>
                        <a:t> and Pega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9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r>
                        <a:rPr lang="en-AU" sz="950"/>
                        <a:t>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DFFH – unable to engage quickly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May prevent us from engaging with DFFH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10/2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/>
                        <a:t>Open</a:t>
                      </a:r>
                      <a:endParaRPr lang="en-AU" sz="950" b="1">
                        <a:solidFill>
                          <a:schemeClr val="bg1"/>
                        </a:solidFill>
                      </a:endParaRPr>
                    </a:p>
                    <a:p>
                      <a:endParaRPr lang="en-AU" sz="95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Kevin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Complete partnership agreement with Alcro and complete paperwork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9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222167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r>
                        <a:rPr lang="en-AU" sz="950"/>
                        <a:t>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BlueScope Steel – need to have Reason on the supplier panel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May stop us working on the BlueScope account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6/2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/>
                        <a:t>Open</a:t>
                      </a:r>
                      <a:endParaRPr lang="en-AU" sz="95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Kevin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Follow up with procurement to have Reason entry fixed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9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42038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FB862A4-242C-CC40-5B55-5499C066F0D7}"/>
              </a:ext>
            </a:extLst>
          </p:cNvPr>
          <p:cNvSpPr txBox="1"/>
          <p:nvPr/>
        </p:nvSpPr>
        <p:spPr>
          <a:xfrm>
            <a:off x="831580" y="3282158"/>
            <a:ext cx="2276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/>
              <a:t>Risk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F71377-E74B-2AA6-FCC8-798FB1AEF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806684"/>
              </p:ext>
            </p:extLst>
          </p:nvPr>
        </p:nvGraphicFramePr>
        <p:xfrm>
          <a:off x="831578" y="5841749"/>
          <a:ext cx="12226356" cy="1051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02471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2059897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1335167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160660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717719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42733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720892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852710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234031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638306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61770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260787">
                <a:tc>
                  <a:txBody>
                    <a:bodyPr/>
                    <a:lstStyle/>
                    <a:p>
                      <a:r>
                        <a:rPr lang="en-AU" sz="9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Issue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950"/>
                        <a:t>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669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>
                          <a:cs typeface="Segoe UI"/>
                        </a:rPr>
                        <a:t>SRO work coming to an end on the 16</a:t>
                      </a:r>
                      <a:r>
                        <a:rPr lang="en-US" sz="950" baseline="30000">
                          <a:cs typeface="Segoe UI"/>
                        </a:rPr>
                        <a:t>th</a:t>
                      </a:r>
                      <a:r>
                        <a:rPr lang="en-US" sz="950">
                          <a:cs typeface="Segoe UI"/>
                        </a:rPr>
                        <a:t> od February and extension unlikely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All work with SRO ends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27/1/26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Alex/Ian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Increase stakeholder management and engage other ED’s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/>
                        <a:t>Need support from Cam, Corrie and Renee. Submit alternative proposals – Oracle first then Pega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95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EA4132E-5560-59D4-4524-7E81F6A8E65D}"/>
              </a:ext>
            </a:extLst>
          </p:cNvPr>
          <p:cNvSpPr txBox="1"/>
          <p:nvPr/>
        </p:nvSpPr>
        <p:spPr>
          <a:xfrm>
            <a:off x="741006" y="5557047"/>
            <a:ext cx="2175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/>
              <a:t>Issue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35867C-599D-E65F-2397-EFF15B07CF60}"/>
              </a:ext>
            </a:extLst>
          </p:cNvPr>
          <p:cNvSpPr txBox="1"/>
          <p:nvPr/>
        </p:nvSpPr>
        <p:spPr>
          <a:xfrm>
            <a:off x="854370" y="547256"/>
            <a:ext cx="4024439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Week Ending 6</a:t>
            </a:r>
            <a:r>
              <a:rPr lang="en-AU" baseline="30000"/>
              <a:t>th</a:t>
            </a:r>
            <a:r>
              <a:rPr lang="en-AU"/>
              <a:t> February</a:t>
            </a:r>
          </a:p>
        </p:txBody>
      </p:sp>
    </p:spTree>
    <p:extLst>
      <p:ext uri="{BB962C8B-B14F-4D97-AF65-F5344CB8AC3E}">
        <p14:creationId xmlns:p14="http://schemas.microsoft.com/office/powerpoint/2010/main" val="62594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73187-E6A8-AD72-11C6-D475D3786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9BBE4-3D9C-2A14-4FB4-1AF2569D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VAT PLANNER STATUS UPDATE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204249-E73D-2176-E0A9-2B0702C4F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89" y="2043889"/>
            <a:ext cx="13165395" cy="280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598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B55E8-CA1A-68CE-23C6-C980FF32A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D64D3AE-BA65-6594-1471-F37FF76AE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/>
              <a:t>DISR VAT</a:t>
            </a:r>
            <a:endParaRPr lang="en-AU" sz="4000" noProof="0"/>
          </a:p>
        </p:txBody>
      </p:sp>
    </p:spTree>
    <p:extLst>
      <p:ext uri="{BB962C8B-B14F-4D97-AF65-F5344CB8AC3E}">
        <p14:creationId xmlns:p14="http://schemas.microsoft.com/office/powerpoint/2010/main" val="1153256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2C8E8-80EC-478A-3286-D89635DC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62198B-9CAD-E058-1E1F-028900870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9" y="454015"/>
            <a:ext cx="11765665" cy="540000"/>
          </a:xfrm>
        </p:spPr>
        <p:txBody>
          <a:bodyPr/>
          <a:lstStyle/>
          <a:p>
            <a:r>
              <a:rPr lang="en-AU"/>
              <a:t>VAT Report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5E4F97D-8834-C902-A350-5FDA15E0C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298604"/>
              </p:ext>
            </p:extLst>
          </p:nvPr>
        </p:nvGraphicFramePr>
        <p:xfrm>
          <a:off x="842529" y="1525403"/>
          <a:ext cx="11765660" cy="2820174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9515999">
                  <a:extLst>
                    <a:ext uri="{9D8B030D-6E8A-4147-A177-3AD203B41FA5}">
                      <a16:colId xmlns:a16="http://schemas.microsoft.com/office/drawing/2014/main" val="3826788413"/>
                    </a:ext>
                  </a:extLst>
                </a:gridCol>
                <a:gridCol w="1587663">
                  <a:extLst>
                    <a:ext uri="{9D8B030D-6E8A-4147-A177-3AD203B41FA5}">
                      <a16:colId xmlns:a16="http://schemas.microsoft.com/office/drawing/2014/main" val="2087886997"/>
                    </a:ext>
                  </a:extLst>
                </a:gridCol>
                <a:gridCol w="661998">
                  <a:extLst>
                    <a:ext uri="{9D8B030D-6E8A-4147-A177-3AD203B41FA5}">
                      <a16:colId xmlns:a16="http://schemas.microsoft.com/office/drawing/2014/main" val="3380400846"/>
                    </a:ext>
                  </a:extLst>
                </a:gridCol>
              </a:tblGrid>
              <a:tr h="301196">
                <a:tc gridSpan="3">
                  <a:txBody>
                    <a:bodyPr/>
                    <a:lstStyle/>
                    <a:p>
                      <a:pPr algn="ctr"/>
                      <a:r>
                        <a:rPr lang="en-AU" sz="1200"/>
                        <a:t>Overall 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423730"/>
                  </a:ext>
                </a:extLst>
              </a:tr>
              <a:tr h="568258">
                <a:tc rowSpan="5"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AU" sz="1100" b="1" i="0" u="none" strike="noStrike" noProof="0">
                          <a:solidFill>
                            <a:schemeClr val="accent2"/>
                          </a:solidFill>
                          <a:latin typeface="Segoe UI"/>
                        </a:rPr>
                        <a:t>AMBER: </a:t>
                      </a:r>
                      <a:r>
                        <a:rPr lang="en-AU" sz="11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executing 'get well’ plan for SPM, </a:t>
                      </a:r>
                      <a:r>
                        <a:rPr lang="en-AU" sz="1100" b="0" i="0" u="none" strike="noStrike" noProof="0" err="1">
                          <a:solidFill>
                            <a:srgbClr val="333333"/>
                          </a:solidFill>
                          <a:latin typeface="Segoe UI"/>
                        </a:rPr>
                        <a:t>stablising</a:t>
                      </a:r>
                      <a:r>
                        <a:rPr lang="en-AU" sz="11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 stakeholder perceptions in response to SES feedback in January. Gross Margin pressure this FY.</a:t>
                      </a:r>
                    </a:p>
                    <a:p>
                      <a:pPr marL="0" lvl="0" indent="0">
                        <a:buNone/>
                      </a:pPr>
                      <a:endParaRPr lang="en-AU" sz="1100" b="0" i="0" u="none" strike="noStrike" noProof="0">
                        <a:solidFill>
                          <a:srgbClr val="333333"/>
                        </a:solidFill>
                        <a:latin typeface="Segoe UI"/>
                      </a:endParaRPr>
                    </a:p>
                    <a:p>
                      <a:pPr marL="171450" lvl="0" indent="-171450">
                        <a:buClr>
                          <a:srgbClr val="333333"/>
                        </a:buClr>
                        <a:buFont typeface="Arial,Sans-Serif"/>
                        <a:buChar char="•"/>
                      </a:pPr>
                      <a:r>
                        <a:rPr lang="en-AU" sz="1100" b="0" i="0" u="sng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IND003 (VC </a:t>
                      </a:r>
                      <a:r>
                        <a:rPr lang="en-AU" sz="1100" b="0" i="0" u="sng" strike="noStrike" noProof="0" err="1">
                          <a:solidFill>
                            <a:srgbClr val="333333"/>
                          </a:solidFill>
                          <a:latin typeface="Segoe UI"/>
                        </a:rPr>
                        <a:t>Smartforms</a:t>
                      </a:r>
                      <a:r>
                        <a:rPr lang="en-AU" sz="1100" b="0" i="0" u="sng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 transition):</a:t>
                      </a:r>
                      <a:r>
                        <a:rPr lang="en-AU" sz="11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 pending finalisation of </a:t>
                      </a:r>
                      <a:r>
                        <a:rPr lang="en-AU" sz="1100" b="0" i="0" u="none" strike="noStrike" noProof="0" err="1">
                          <a:solidFill>
                            <a:srgbClr val="333333"/>
                          </a:solidFill>
                          <a:latin typeface="Segoe UI"/>
                        </a:rPr>
                        <a:t>decomm</a:t>
                      </a:r>
                      <a:r>
                        <a:rPr lang="en-AU" sz="11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. approach and business analysis for existing access databases (VCFM and CLIO). Sales strategy TBA: VCFM/CLIO business rules are not included in baselined requirements but was part of our in initial analysis report in June/July 2025 (IND001).</a:t>
                      </a:r>
                    </a:p>
                    <a:p>
                      <a:pPr marL="171450" lvl="0" indent="-171450">
                        <a:buClr>
                          <a:srgbClr val="333333"/>
                        </a:buClr>
                        <a:buFont typeface="Arial,Sans-Serif"/>
                        <a:buChar char="•"/>
                      </a:pPr>
                      <a:endParaRPr lang="en-AU" sz="1100" b="0" i="0" u="none" strike="noStrike" noProof="0">
                        <a:solidFill>
                          <a:srgbClr val="333333"/>
                        </a:solidFill>
                        <a:latin typeface="Segoe UI"/>
                      </a:endParaRPr>
                    </a:p>
                    <a:p>
                      <a:pPr marL="171450" lvl="0" indent="-171450">
                        <a:buClr>
                          <a:srgbClr val="333333"/>
                        </a:buClr>
                        <a:buFont typeface="Arial,Sans-Serif"/>
                        <a:buChar char="•"/>
                      </a:pPr>
                      <a:r>
                        <a:rPr lang="en-AU" sz="1100" b="0" i="0" u="sng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IND003-01 (HRSD AI Prototype):</a:t>
                      </a:r>
                      <a:r>
                        <a:rPr lang="en-AU" sz="11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 due to complete on track by 23 Feb, follow through to IND005. AIP Discovery piece is complete.</a:t>
                      </a:r>
                      <a:endParaRPr lang="en-US" sz="1100" b="0" i="0" u="none" strike="noStrike" noProof="0">
                        <a:solidFill>
                          <a:srgbClr val="333333"/>
                        </a:solidFill>
                        <a:latin typeface="Segoe UI"/>
                      </a:endParaRP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endParaRPr lang="en-AU" sz="1100" b="0" i="0" u="sng" strike="noStrike" noProof="0">
                        <a:solidFill>
                          <a:srgbClr val="333333"/>
                        </a:solidFill>
                        <a:latin typeface="Segoe UI"/>
                      </a:endParaRP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AU" sz="1100" b="0" i="0" u="sng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IND004 (SPM):</a:t>
                      </a:r>
                      <a:r>
                        <a:rPr lang="en-AU" sz="11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 Contract change request for 2 additional sprints (4 weeks) was declined by DISR (~$172k). We've since optimised the schedule on request, to include an additional build sprint starting 2 Feb and reduced </a:t>
                      </a:r>
                      <a:r>
                        <a:rPr lang="en-AU" sz="1100" b="0" i="0" u="none" strike="noStrike" noProof="0" err="1">
                          <a:solidFill>
                            <a:srgbClr val="333333"/>
                          </a:solidFill>
                          <a:latin typeface="Segoe UI"/>
                        </a:rPr>
                        <a:t>hypercare</a:t>
                      </a:r>
                      <a:r>
                        <a:rPr lang="en-AU" sz="11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 period. IRM license BC going to DISR board in March, looking for extension option to deliver IRM as follow on from existing work, from mid-March.</a:t>
                      </a:r>
                      <a:endParaRPr lang="en-US" sz="1100" b="0" i="0" u="none" strike="noStrike" noProof="0">
                        <a:solidFill>
                          <a:srgbClr val="333333"/>
                        </a:solidFill>
                        <a:latin typeface="Segoe UI"/>
                      </a:endParaRP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endParaRPr lang="en-AU" sz="1100" b="0" i="0" u="sng" strike="noStrike" noProof="0">
                        <a:solidFill>
                          <a:srgbClr val="333333"/>
                        </a:solidFill>
                        <a:latin typeface="Segoe UI"/>
                      </a:endParaRPr>
                    </a:p>
                    <a:p>
                      <a:pPr marL="171450" lvl="0" indent="-171450">
                        <a:buFont typeface="Arial"/>
                        <a:buChar char="•"/>
                      </a:pPr>
                      <a:r>
                        <a:rPr lang="en-AU" sz="1100" b="0" i="0" u="sng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IND005 (ServiceNow Implementation Support - Agentic AI for HRSD):</a:t>
                      </a:r>
                      <a:r>
                        <a:rPr lang="en-AU" sz="1100" b="0" i="0" u="none" strike="noStrike" noProof="0">
                          <a:solidFill>
                            <a:srgbClr val="333333"/>
                          </a:solidFill>
                          <a:latin typeface="Segoe UI"/>
                        </a:rPr>
                        <a:t> RFQ awarded to RG and executed 5 Jan. Initial team is mobilised, mostly onboarded to DISR and into planning and kick-off activities. Finalising impacts for additional resourcing to overall FY26 position.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="1"/>
                        <a:t>Status Overall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711388"/>
                  </a:ext>
                </a:extLst>
              </a:tr>
              <a:tr h="487680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Open Opps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767909"/>
                  </a:ext>
                </a:extLst>
              </a:tr>
              <a:tr h="487680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Big Plays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459770"/>
                  </a:ext>
                </a:extLst>
              </a:tr>
              <a:tr h="487680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Account Goals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80268"/>
                  </a:ext>
                </a:extLst>
              </a:tr>
              <a:tr h="487680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Relationships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1616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E4AECF-3F60-2ABA-4C87-A83E4E632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806343"/>
              </p:ext>
            </p:extLst>
          </p:nvPr>
        </p:nvGraphicFramePr>
        <p:xfrm>
          <a:off x="831581" y="4707295"/>
          <a:ext cx="11765665" cy="8229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39588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1973819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666969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037069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849176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39124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1252702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1107696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16944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146418">
                <a:tc>
                  <a:txBody>
                    <a:bodyPr/>
                    <a:lstStyle/>
                    <a:p>
                      <a:r>
                        <a:rPr lang="en-AU" sz="10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11E39EF-31DD-D30E-DF9C-650C40C55E87}"/>
              </a:ext>
            </a:extLst>
          </p:cNvPr>
          <p:cNvSpPr txBox="1"/>
          <p:nvPr/>
        </p:nvSpPr>
        <p:spPr>
          <a:xfrm>
            <a:off x="831581" y="4379421"/>
            <a:ext cx="2276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/>
              <a:t>Issues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D5AC81-986E-F158-4131-9F452B07B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086991"/>
              </p:ext>
            </p:extLst>
          </p:nvPr>
        </p:nvGraphicFramePr>
        <p:xfrm>
          <a:off x="831581" y="5850783"/>
          <a:ext cx="11765665" cy="1143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39588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1917063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723725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037069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849176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39124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1252702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1107696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16944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146418">
                <a:tc>
                  <a:txBody>
                    <a:bodyPr/>
                    <a:lstStyle/>
                    <a:p>
                      <a:r>
                        <a:rPr lang="en-AU" sz="10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People</a:t>
                      </a:r>
                    </a:p>
                    <a:p>
                      <a:r>
                        <a:rPr lang="en-AU" sz="1050"/>
                        <a:t>Process</a:t>
                      </a:r>
                    </a:p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C0B3462-6180-2925-D128-F47E0B788761}"/>
              </a:ext>
            </a:extLst>
          </p:cNvPr>
          <p:cNvSpPr txBox="1"/>
          <p:nvPr/>
        </p:nvSpPr>
        <p:spPr>
          <a:xfrm>
            <a:off x="831581" y="5543006"/>
            <a:ext cx="2175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/>
              <a:t>Risks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612252-2CED-386B-C1CE-65E9943F13DF}"/>
              </a:ext>
            </a:extLst>
          </p:cNvPr>
          <p:cNvSpPr txBox="1"/>
          <p:nvPr/>
        </p:nvSpPr>
        <p:spPr>
          <a:xfrm>
            <a:off x="831581" y="1169906"/>
            <a:ext cx="4024439" cy="3939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1950"/>
              <a:t>Week Ending 30 January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4730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CAF22-1A89-4C56-62CE-949652DDE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1389-DD4F-A763-2185-48207AA9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81" y="107854"/>
            <a:ext cx="11765665" cy="540000"/>
          </a:xfrm>
        </p:spPr>
        <p:txBody>
          <a:bodyPr/>
          <a:lstStyle/>
          <a:p>
            <a:r>
              <a:rPr lang="en-AU"/>
              <a:t>VAT PLANNER STATUS UPDATE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D84917-402D-20F1-C1AB-00CAC2770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91" y="2494905"/>
            <a:ext cx="11878591" cy="118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95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8066C-5089-E27F-24DF-8CD64B30B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985C327-FA91-2FC7-884A-0AC5750AF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GROWTH VAT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788824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9F60E-5D02-3499-57BD-656B8D2C2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0BDB10A-B5C6-C1E2-0AF6-AC21F97DC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9" y="454015"/>
            <a:ext cx="11765665" cy="540000"/>
          </a:xfrm>
        </p:spPr>
        <p:txBody>
          <a:bodyPr/>
          <a:lstStyle/>
          <a:p>
            <a:r>
              <a:rPr lang="en-AU"/>
              <a:t>VAT Report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EC332CD-578D-B8D8-6A2F-08114C757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162275"/>
              </p:ext>
            </p:extLst>
          </p:nvPr>
        </p:nvGraphicFramePr>
        <p:xfrm>
          <a:off x="842529" y="1680315"/>
          <a:ext cx="11765664" cy="1901396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9019226">
                  <a:extLst>
                    <a:ext uri="{9D8B030D-6E8A-4147-A177-3AD203B41FA5}">
                      <a16:colId xmlns:a16="http://schemas.microsoft.com/office/drawing/2014/main" val="3826788413"/>
                    </a:ext>
                  </a:extLst>
                </a:gridCol>
                <a:gridCol w="2084439">
                  <a:extLst>
                    <a:ext uri="{9D8B030D-6E8A-4147-A177-3AD203B41FA5}">
                      <a16:colId xmlns:a16="http://schemas.microsoft.com/office/drawing/2014/main" val="2087886997"/>
                    </a:ext>
                  </a:extLst>
                </a:gridCol>
                <a:gridCol w="661999">
                  <a:extLst>
                    <a:ext uri="{9D8B030D-6E8A-4147-A177-3AD203B41FA5}">
                      <a16:colId xmlns:a16="http://schemas.microsoft.com/office/drawing/2014/main" val="3380400846"/>
                    </a:ext>
                  </a:extLst>
                </a:gridCol>
              </a:tblGrid>
              <a:tr h="301196">
                <a:tc gridSpan="3">
                  <a:txBody>
                    <a:bodyPr/>
                    <a:lstStyle/>
                    <a:p>
                      <a:pPr algn="ctr"/>
                      <a:r>
                        <a:rPr lang="en-AU" sz="1200"/>
                        <a:t>Overall 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423730"/>
                  </a:ext>
                </a:extLst>
              </a:tr>
              <a:tr h="301196">
                <a:tc rowSpan="5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AU" sz="1100"/>
                        <a:t>Overall productive month with a Smart forms project win and submission of two RFQ for DISR plus multiple other opps.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AU" sz="110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Healthy pipeline of new opportunities from DOH, NQSC, State Gov (QLD, Vic, SA) and DISR.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Newly appointed onto the Cloud Market Place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/>
                        <a:t>Stand up new VAT for DISR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AU" sz="110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AU" sz="1100"/>
                        <a:t>Key accounts have been identified and split across both Other and Growth – Need to have meeting to go through accountability and operating model for Growth VAT.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AU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Status Overall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711388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Open Opps Actions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767909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Big Plays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459770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Account Goals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80268"/>
                  </a:ext>
                </a:extLst>
              </a:tr>
              <a:tr h="301196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Relationships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1616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4AE64C-D694-693E-D1BE-7414C8797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742001"/>
              </p:ext>
            </p:extLst>
          </p:nvPr>
        </p:nvGraphicFramePr>
        <p:xfrm>
          <a:off x="831581" y="3954579"/>
          <a:ext cx="11765665" cy="13030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39588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1973819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666969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037069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849176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39124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1252702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1107696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16944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146418">
                <a:tc>
                  <a:txBody>
                    <a:bodyPr/>
                    <a:lstStyle/>
                    <a:p>
                      <a:r>
                        <a:rPr lang="en-AU" sz="10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Multiple DISR opps and projects resulting it to be a new VAT. Currently No VAT lead available.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$1-5m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5/9/2025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Aleks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Recruit new VAT lead (Ben)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9C78DE0-9FE4-259D-E2A9-2EB3ADB96AA6}"/>
              </a:ext>
            </a:extLst>
          </p:cNvPr>
          <p:cNvSpPr txBox="1"/>
          <p:nvPr/>
        </p:nvSpPr>
        <p:spPr>
          <a:xfrm>
            <a:off x="831581" y="3626705"/>
            <a:ext cx="2276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/>
              <a:t>Issues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1AC1B9-2C15-DB04-67AF-F95A94CA2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6064"/>
              </p:ext>
            </p:extLst>
          </p:nvPr>
        </p:nvGraphicFramePr>
        <p:xfrm>
          <a:off x="831581" y="5640258"/>
          <a:ext cx="11765665" cy="13030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39588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1917063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723725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037069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849176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839124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1252702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1107696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191289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16944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146418">
                <a:tc>
                  <a:txBody>
                    <a:bodyPr/>
                    <a:lstStyle/>
                    <a:p>
                      <a:r>
                        <a:rPr lang="en-AU" sz="10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Burnout on Team members due to heavy workload around bid prep &amp; pproposals.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Aleks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Spread the load and new VAT lead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E0E7EAB-FD1C-14C4-F6DC-C2ADEDE3190D}"/>
              </a:ext>
            </a:extLst>
          </p:cNvPr>
          <p:cNvSpPr txBox="1"/>
          <p:nvPr/>
        </p:nvSpPr>
        <p:spPr>
          <a:xfrm>
            <a:off x="831581" y="5332481"/>
            <a:ext cx="2175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/>
              <a:t>Risks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0F4E82-2572-31CA-DD71-074F889CCA58}"/>
              </a:ext>
            </a:extLst>
          </p:cNvPr>
          <p:cNvSpPr txBox="1"/>
          <p:nvPr/>
        </p:nvSpPr>
        <p:spPr>
          <a:xfrm>
            <a:off x="831581" y="1169906"/>
            <a:ext cx="5980699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Week Ending </a:t>
            </a:r>
            <a:r>
              <a:rPr lang="en-AU">
                <a:solidFill>
                  <a:srgbClr val="FF0000"/>
                </a:solidFill>
              </a:rPr>
              <a:t>12 September (last reporting cycle) </a:t>
            </a:r>
          </a:p>
        </p:txBody>
      </p:sp>
    </p:spTree>
    <p:extLst>
      <p:ext uri="{BB962C8B-B14F-4D97-AF65-F5344CB8AC3E}">
        <p14:creationId xmlns:p14="http://schemas.microsoft.com/office/powerpoint/2010/main" val="1136102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DFB52-560F-9C61-6F4A-73C475230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1674E-D30F-0F34-0E6E-CF9B9BD58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81" y="107854"/>
            <a:ext cx="11765665" cy="540000"/>
          </a:xfrm>
        </p:spPr>
        <p:txBody>
          <a:bodyPr/>
          <a:lstStyle/>
          <a:p>
            <a:r>
              <a:rPr lang="en-AU"/>
              <a:t>VAT PLANNER STATUS UPDATE</a:t>
            </a:r>
          </a:p>
        </p:txBody>
      </p:sp>
    </p:spTree>
    <p:extLst>
      <p:ext uri="{BB962C8B-B14F-4D97-AF65-F5344CB8AC3E}">
        <p14:creationId xmlns:p14="http://schemas.microsoft.com/office/powerpoint/2010/main" val="3826342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5DB15-8530-4AA1-B559-FAA18DECE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C541823-1EC4-E001-613F-0EA938007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/>
              <a:t>PLATFORMS AND PARTNERSHIPS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925261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9E970-D2F5-2649-AC1D-CA140FE56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9AD8FBF-0A88-2DE2-3259-FF80069F3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9" y="454015"/>
            <a:ext cx="11765665" cy="540000"/>
          </a:xfrm>
        </p:spPr>
        <p:txBody>
          <a:bodyPr/>
          <a:lstStyle/>
          <a:p>
            <a:r>
              <a:rPr lang="en-AU"/>
              <a:t>P&amp;P Report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04722A0-0030-0549-94B5-E395F131C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1026" y="740343"/>
            <a:ext cx="134397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Sales Dashboard.xlsx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BA5AA-F978-A946-3014-9D955545C8EA}"/>
              </a:ext>
            </a:extLst>
          </p:cNvPr>
          <p:cNvSpPr txBox="1"/>
          <p:nvPr/>
        </p:nvSpPr>
        <p:spPr>
          <a:xfrm>
            <a:off x="842840" y="994161"/>
            <a:ext cx="402422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95520"/>
            <a:r>
              <a:rPr lang="en-AU" sz="1800">
                <a:solidFill>
                  <a:srgbClr val="333333"/>
                </a:solidFill>
                <a:latin typeface="Segoe UI"/>
              </a:rPr>
              <a:t>Sales Dashboard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526EBA-861B-AEB6-714F-DA7F1B187796}"/>
              </a:ext>
            </a:extLst>
          </p:cNvPr>
          <p:cNvSpPr txBox="1"/>
          <p:nvPr/>
        </p:nvSpPr>
        <p:spPr>
          <a:xfrm>
            <a:off x="492317" y="5610879"/>
            <a:ext cx="4024227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95520"/>
            <a:r>
              <a:rPr lang="en-AU" sz="1800">
                <a:solidFill>
                  <a:srgbClr val="333333"/>
                </a:solidFill>
                <a:latin typeface="Segoe UI"/>
              </a:rPr>
              <a:t>Recent Wins</a:t>
            </a:r>
          </a:p>
          <a:p>
            <a:pPr marL="285750" indent="-285750" defTabSz="995520">
              <a:buFont typeface="Arial" panose="020B0604020202020204" pitchFamily="34" charset="0"/>
              <a:buChar char="•"/>
            </a:pPr>
            <a:r>
              <a:rPr lang="en-AU" sz="1200">
                <a:solidFill>
                  <a:srgbClr val="333333"/>
                </a:solidFill>
                <a:latin typeface="Segoe UI"/>
              </a:rPr>
              <a:t>DISR SN -~$2.1M</a:t>
            </a:r>
          </a:p>
          <a:p>
            <a:pPr marL="285750" indent="-285750" defTabSz="995520">
              <a:buFont typeface="Arial" panose="020B0604020202020204" pitchFamily="34" charset="0"/>
              <a:buChar char="•"/>
            </a:pPr>
            <a:r>
              <a:rPr lang="en-AU" sz="1200">
                <a:solidFill>
                  <a:srgbClr val="333333"/>
                </a:solidFill>
                <a:latin typeface="Segoe UI"/>
              </a:rPr>
              <a:t>EPI-USE - $42K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00BE90-485D-5D25-876B-88AD7427894C}"/>
              </a:ext>
            </a:extLst>
          </p:cNvPr>
          <p:cNvSpPr txBox="1"/>
          <p:nvPr/>
        </p:nvSpPr>
        <p:spPr>
          <a:xfrm>
            <a:off x="9061514" y="5605765"/>
            <a:ext cx="402422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95520"/>
            <a:r>
              <a:rPr lang="en-AU" sz="1800">
                <a:solidFill>
                  <a:srgbClr val="333333"/>
                </a:solidFill>
                <a:latin typeface="Segoe UI"/>
              </a:rPr>
              <a:t>Recent Losses</a:t>
            </a:r>
          </a:p>
          <a:p>
            <a:pPr marL="285750" indent="-285750" defTabSz="995520">
              <a:buFont typeface="Arial" panose="020B0604020202020204" pitchFamily="34" charset="0"/>
              <a:buChar char="•"/>
            </a:pPr>
            <a:r>
              <a:rPr lang="en-AU" sz="1200">
                <a:solidFill>
                  <a:srgbClr val="333333"/>
                </a:solidFill>
              </a:rPr>
              <a:t>DISR WHS – SN ~ $900K</a:t>
            </a:r>
          </a:p>
          <a:p>
            <a:pPr marL="285750" indent="-285750" defTabSz="995520">
              <a:buFont typeface="Arial" panose="020B0604020202020204" pitchFamily="34" charset="0"/>
              <a:buChar char="•"/>
            </a:pPr>
            <a:r>
              <a:rPr lang="en-AU" sz="1200">
                <a:solidFill>
                  <a:srgbClr val="333333"/>
                </a:solidFill>
              </a:rPr>
              <a:t>Application Services at Finance – SAP CBMS  ~$400K</a:t>
            </a:r>
          </a:p>
          <a:p>
            <a:pPr indent="268288" defTabSz="995520"/>
            <a:r>
              <a:rPr lang="en-AU" sz="1200">
                <a:solidFill>
                  <a:srgbClr val="333333"/>
                </a:solidFill>
              </a:rPr>
              <a:t>Note – many still under review</a:t>
            </a:r>
          </a:p>
          <a:p>
            <a:pPr defTabSz="995520"/>
            <a:r>
              <a:rPr lang="en-AU" sz="1800">
                <a:solidFill>
                  <a:srgbClr val="333333"/>
                </a:solidFill>
                <a:latin typeface="Segoe UI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2437DD-10B3-59D3-C9C6-86369124A334}"/>
              </a:ext>
            </a:extLst>
          </p:cNvPr>
          <p:cNvSpPr txBox="1"/>
          <p:nvPr/>
        </p:nvSpPr>
        <p:spPr>
          <a:xfrm>
            <a:off x="553239" y="5026734"/>
            <a:ext cx="402422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95520"/>
            <a:r>
              <a:rPr lang="en-AU" sz="1200">
                <a:solidFill>
                  <a:srgbClr val="333333"/>
                </a:solidFill>
                <a:latin typeface="Segoe UI"/>
              </a:rPr>
              <a:t>* Target – Min. $10M (additional)</a:t>
            </a:r>
          </a:p>
          <a:p>
            <a:pPr defTabSz="995520"/>
            <a:r>
              <a:rPr lang="en-AU" sz="1200">
                <a:solidFill>
                  <a:srgbClr val="333333"/>
                </a:solidFill>
                <a:latin typeface="Segoe UI"/>
              </a:rPr>
              <a:t>* Excludes additional ~ $20M in ‘Activity’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EA6940-FB3B-7764-ADD8-FC56FD11E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61" y="1280343"/>
            <a:ext cx="1223010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82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A5438-E456-E9AD-34B1-5C881A907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20CE6C-94B1-4E16-3E60-BD356D964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9" y="16432"/>
            <a:ext cx="11765665" cy="540000"/>
          </a:xfrm>
        </p:spPr>
        <p:txBody>
          <a:bodyPr/>
          <a:lstStyle/>
          <a:p>
            <a:r>
              <a:rPr lang="en-AU"/>
              <a:t>P&amp;P Report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1FBE08-CBCD-7211-BEE7-9DBCCBD05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942523"/>
              </p:ext>
            </p:extLst>
          </p:nvPr>
        </p:nvGraphicFramePr>
        <p:xfrm>
          <a:off x="967678" y="4216464"/>
          <a:ext cx="12055678" cy="26974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60283">
                  <a:extLst>
                    <a:ext uri="{9D8B030D-6E8A-4147-A177-3AD203B41FA5}">
                      <a16:colId xmlns:a16="http://schemas.microsoft.com/office/drawing/2014/main" val="2534307862"/>
                    </a:ext>
                  </a:extLst>
                </a:gridCol>
                <a:gridCol w="1964317">
                  <a:extLst>
                    <a:ext uri="{9D8B030D-6E8A-4147-A177-3AD203B41FA5}">
                      <a16:colId xmlns:a16="http://schemas.microsoft.com/office/drawing/2014/main" val="2501886219"/>
                    </a:ext>
                  </a:extLst>
                </a:gridCol>
                <a:gridCol w="741565">
                  <a:extLst>
                    <a:ext uri="{9D8B030D-6E8A-4147-A177-3AD203B41FA5}">
                      <a16:colId xmlns:a16="http://schemas.microsoft.com/office/drawing/2014/main" val="2861896255"/>
                    </a:ext>
                  </a:extLst>
                </a:gridCol>
                <a:gridCol w="1062631">
                  <a:extLst>
                    <a:ext uri="{9D8B030D-6E8A-4147-A177-3AD203B41FA5}">
                      <a16:colId xmlns:a16="http://schemas.microsoft.com/office/drawing/2014/main" val="40294571"/>
                    </a:ext>
                  </a:extLst>
                </a:gridCol>
                <a:gridCol w="870108">
                  <a:extLst>
                    <a:ext uri="{9D8B030D-6E8A-4147-A177-3AD203B41FA5}">
                      <a16:colId xmlns:a16="http://schemas.microsoft.com/office/drawing/2014/main" val="3834004095"/>
                    </a:ext>
                  </a:extLst>
                </a:gridCol>
                <a:gridCol w="953121">
                  <a:extLst>
                    <a:ext uri="{9D8B030D-6E8A-4147-A177-3AD203B41FA5}">
                      <a16:colId xmlns:a16="http://schemas.microsoft.com/office/drawing/2014/main" val="3502128822"/>
                    </a:ext>
                  </a:extLst>
                </a:gridCol>
                <a:gridCol w="1190267">
                  <a:extLst>
                    <a:ext uri="{9D8B030D-6E8A-4147-A177-3AD203B41FA5}">
                      <a16:colId xmlns:a16="http://schemas.microsoft.com/office/drawing/2014/main" val="723482051"/>
                    </a:ext>
                  </a:extLst>
                </a:gridCol>
                <a:gridCol w="1135000">
                  <a:extLst>
                    <a:ext uri="{9D8B030D-6E8A-4147-A177-3AD203B41FA5}">
                      <a16:colId xmlns:a16="http://schemas.microsoft.com/office/drawing/2014/main" val="3002097344"/>
                    </a:ext>
                  </a:extLst>
                </a:gridCol>
                <a:gridCol w="1220653">
                  <a:extLst>
                    <a:ext uri="{9D8B030D-6E8A-4147-A177-3AD203B41FA5}">
                      <a16:colId xmlns:a16="http://schemas.microsoft.com/office/drawing/2014/main" val="10848869"/>
                    </a:ext>
                  </a:extLst>
                </a:gridCol>
                <a:gridCol w="1220653">
                  <a:extLst>
                    <a:ext uri="{9D8B030D-6E8A-4147-A177-3AD203B41FA5}">
                      <a16:colId xmlns:a16="http://schemas.microsoft.com/office/drawing/2014/main" val="3492640797"/>
                    </a:ext>
                  </a:extLst>
                </a:gridCol>
                <a:gridCol w="837080">
                  <a:extLst>
                    <a:ext uri="{9D8B030D-6E8A-4147-A177-3AD203B41FA5}">
                      <a16:colId xmlns:a16="http://schemas.microsoft.com/office/drawing/2014/main" val="1617405267"/>
                    </a:ext>
                  </a:extLst>
                </a:gridCol>
              </a:tblGrid>
              <a:tr h="146418">
                <a:tc>
                  <a:txBody>
                    <a:bodyPr/>
                    <a:lstStyle/>
                    <a:p>
                      <a:r>
                        <a:rPr lang="en-AU" sz="1050"/>
                        <a:t>Raised by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Date Risk becomes 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Impact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Likelihood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75881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r>
                        <a:rPr lang="en-AU" sz="1050"/>
                        <a:t>Scott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VIC SRO – P2P Partner and broader partnership (depending on f lead / follow)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19/12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Scott/Ian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Discussions with OCS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Meeting 24/11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035249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r>
                        <a:rPr lang="en-AU" sz="1050"/>
                        <a:t>Scott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Decisively – just in time recruitment. Reputational risk with T1 in particular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19/12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Alex/ Scott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Internal trainings and external planning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Meeting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152193"/>
                  </a:ext>
                </a:extLst>
              </a:tr>
              <a:tr h="131194">
                <a:tc>
                  <a:txBody>
                    <a:bodyPr/>
                    <a:lstStyle/>
                    <a:p>
                      <a:r>
                        <a:rPr lang="en-AU" sz="1050"/>
                        <a:t>Scott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Partners – Surge resourcing, manoeuvring favoured partners (States needs)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Scott/ Aleks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Unknown –size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Planning with 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34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050"/>
                        <a:t>Scott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SN VIC – relationship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End of Jan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Open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Scott/ 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Build relationship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50"/>
                        <a:t>SN favouring other partners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049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94F7F66-043F-7FCF-62BB-5C4747A055DD}"/>
              </a:ext>
            </a:extLst>
          </p:cNvPr>
          <p:cNvSpPr txBox="1"/>
          <p:nvPr/>
        </p:nvSpPr>
        <p:spPr>
          <a:xfrm>
            <a:off x="273526" y="5534990"/>
            <a:ext cx="2159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/>
              <a:t>Risks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BF9920-6134-CEF2-172C-28EFD9FCB7C1}"/>
              </a:ext>
            </a:extLst>
          </p:cNvPr>
          <p:cNvSpPr txBox="1"/>
          <p:nvPr/>
        </p:nvSpPr>
        <p:spPr>
          <a:xfrm>
            <a:off x="842529" y="485747"/>
            <a:ext cx="555065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95520"/>
            <a:r>
              <a:rPr lang="en-AU" sz="1800">
                <a:solidFill>
                  <a:srgbClr val="333333"/>
                </a:solidFill>
                <a:latin typeface="Segoe UI"/>
              </a:rPr>
              <a:t>Week Ending </a:t>
            </a:r>
            <a:r>
              <a:rPr lang="en-AU" sz="1800">
                <a:solidFill>
                  <a:srgbClr val="FF0000"/>
                </a:solidFill>
                <a:latin typeface="Segoe UI"/>
              </a:rPr>
              <a:t>21 November </a:t>
            </a:r>
            <a:r>
              <a:rPr lang="en-AU" sz="1800">
                <a:solidFill>
                  <a:srgbClr val="FF0000"/>
                </a:solidFill>
              </a:rPr>
              <a:t>(last reporting cycle)</a:t>
            </a:r>
            <a:endParaRPr lang="en-AU" sz="1800">
              <a:solidFill>
                <a:srgbClr val="FF0000"/>
              </a:solidFill>
              <a:latin typeface="Segoe U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F6F265-2927-ACA6-FC86-A2614EA45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882757"/>
              </p:ext>
            </p:extLst>
          </p:nvPr>
        </p:nvGraphicFramePr>
        <p:xfrm>
          <a:off x="967678" y="836048"/>
          <a:ext cx="12055680" cy="3215609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9737023">
                  <a:extLst>
                    <a:ext uri="{9D8B030D-6E8A-4147-A177-3AD203B41FA5}">
                      <a16:colId xmlns:a16="http://schemas.microsoft.com/office/drawing/2014/main" val="3826788413"/>
                    </a:ext>
                  </a:extLst>
                </a:gridCol>
                <a:gridCol w="1640340">
                  <a:extLst>
                    <a:ext uri="{9D8B030D-6E8A-4147-A177-3AD203B41FA5}">
                      <a16:colId xmlns:a16="http://schemas.microsoft.com/office/drawing/2014/main" val="2087886997"/>
                    </a:ext>
                  </a:extLst>
                </a:gridCol>
                <a:gridCol w="678317">
                  <a:extLst>
                    <a:ext uri="{9D8B030D-6E8A-4147-A177-3AD203B41FA5}">
                      <a16:colId xmlns:a16="http://schemas.microsoft.com/office/drawing/2014/main" val="3380400846"/>
                    </a:ext>
                  </a:extLst>
                </a:gridCol>
              </a:tblGrid>
              <a:tr h="274295">
                <a:tc gridSpan="3">
                  <a:txBody>
                    <a:bodyPr/>
                    <a:lstStyle/>
                    <a:p>
                      <a:pPr algn="ctr"/>
                      <a:r>
                        <a:rPr lang="en-AU" sz="1000"/>
                        <a:t>Overall Status </a:t>
                      </a:r>
                      <a:r>
                        <a:rPr lang="en-AU" sz="1000">
                          <a:solidFill>
                            <a:schemeClr val="tx1"/>
                          </a:solidFill>
                          <a:highlight>
                            <a:srgbClr val="FFC000"/>
                          </a:highlight>
                        </a:rPr>
                        <a:t>AMBER</a:t>
                      </a:r>
                      <a:endParaRPr lang="en-AU" sz="1000"/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423730"/>
                  </a:ext>
                </a:extLst>
              </a:tr>
              <a:tr h="411139">
                <a:tc rowSpan="5">
                  <a:txBody>
                    <a:bodyPr/>
                    <a:lstStyle/>
                    <a:p>
                      <a:r>
                        <a:rPr lang="en-AU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ServiceNow Momentum</a:t>
                      </a:r>
                      <a:endParaRPr lang="en-AU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~$2.1M in DISR wins across PSDS, SPM/IRM, HRSD, AI, and consultancy. Strong pipeline (~$6.5M) with multiple RFQs/RFIs submitted in recent weeks.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Recognised as an “AI lighthouse” with DISR, supported by new certifications and specialist capability growth.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Federal momentum continues to build; VIC Government traction still early and limited.</a:t>
                      </a:r>
                    </a:p>
                    <a:p>
                      <a:pPr marL="0" algn="l" defTabSz="1266984" rtl="0" eaLnBrk="1" latinLnBrk="0" hangingPunct="1"/>
                      <a:r>
                        <a:rPr lang="en-AU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Technology One Expansion</a:t>
                      </a: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Submitted six ATMs valued at &gt;$20M, focused on wrapper services and Decisively implementations. RG remains the only Federal Government partner.</a:t>
                      </a: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Strategic discussions progressing with senior leadership regarding national expansion, particularly in QLD.</a:t>
                      </a:r>
                    </a:p>
                    <a:p>
                      <a:pPr marL="0" algn="l" defTabSz="1266984" rtl="0" eaLnBrk="1" latinLnBrk="0" hangingPunct="1"/>
                      <a:r>
                        <a:rPr lang="en-AU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Imminently Partnership</a:t>
                      </a: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Active collaboration alongside TechOne and Imminently.  Ongoing conversations around financial backing and risk mitigation.</a:t>
                      </a: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Training programs planned to uplift internal capability and accelerate opportunity conversion.</a:t>
                      </a:r>
                    </a:p>
                    <a:p>
                      <a:r>
                        <a:rPr lang="en-AU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Oracle &amp; SAP Positioning</a:t>
                      </a:r>
                      <a:endParaRPr lang="en-AU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Oracle</a:t>
                      </a: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Pursuing VIC Govt (SRO T4) with amber status; requires offshore delivery and a P2P partner.</a:t>
                      </a: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SAP</a:t>
                      </a: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Engagement declining; RG may step back from platform partner status and refocus on consultancy/advisory work + SAU.</a:t>
                      </a:r>
                    </a:p>
                    <a:p>
                      <a:r>
                        <a:rPr lang="en-AU" sz="11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Broader Partner Ecosystem</a:t>
                      </a:r>
                      <a:endParaRPr lang="en-AU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partnership with EWGS to strengthen offshore delivery capability.</a:t>
                      </a: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Positive interactions with BCG, LAB3, </a:t>
                      </a:r>
                      <a:r>
                        <a:rPr lang="en-AU" sz="110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ConceptSix</a:t>
                      </a: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EPI-USE, opening Federal and Health opportunities.</a:t>
                      </a:r>
                    </a:p>
                    <a:p>
                      <a:pPr marL="171450" lvl="0" indent="-171450" algn="l" defTabSz="1266984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Microsoft, AWS, Workday, Salesforce, and Accenture remain on watch due to minimal current engagement.</a:t>
                      </a:r>
                      <a:endParaRPr lang="en-AU" sz="1100" kern="100">
                        <a:solidFill>
                          <a:schemeClr val="tx1"/>
                        </a:solidFill>
                        <a:latin typeface="+mn-lt"/>
                        <a:ea typeface="Calibri"/>
                        <a:cs typeface="Calibri"/>
                      </a:endParaRPr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000"/>
                        <a:t>ServiceNow</a:t>
                      </a:r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00"/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711388"/>
                  </a:ext>
                </a:extLst>
              </a:tr>
              <a:tr h="411139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000"/>
                        <a:t>Technology One </a:t>
                      </a:r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00"/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767909"/>
                  </a:ext>
                </a:extLst>
              </a:tr>
              <a:tr h="411139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000"/>
                        <a:t>Imminently</a:t>
                      </a:r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00"/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459770"/>
                  </a:ext>
                </a:extLst>
              </a:tr>
              <a:tr h="411139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Oracle</a:t>
                      </a:r>
                      <a:endParaRPr lang="en-AU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00"/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80268"/>
                  </a:ext>
                </a:extLst>
              </a:tr>
              <a:tr h="735464">
                <a:tc vMerge="1">
                  <a:txBody>
                    <a:bodyPr/>
                    <a:lstStyle/>
                    <a:p>
                      <a:endParaRPr lang="en-AU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000"/>
                        <a:t>Other </a:t>
                      </a:r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000"/>
                    </a:p>
                  </a:txBody>
                  <a:tcPr marL="91436" marR="91436"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161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26CD86A-F87A-379B-895F-91B7E6A96B28}"/>
              </a:ext>
            </a:extLst>
          </p:cNvPr>
          <p:cNvSpPr txBox="1"/>
          <p:nvPr/>
        </p:nvSpPr>
        <p:spPr>
          <a:xfrm>
            <a:off x="10192192" y="0"/>
            <a:ext cx="3092423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95520"/>
            <a:r>
              <a:rPr lang="en-AU" sz="1200" b="1">
                <a:solidFill>
                  <a:srgbClr val="333333"/>
                </a:solidFill>
                <a:latin typeface="Segoe UI"/>
              </a:rPr>
              <a:t>Partner Priorities - Platform</a:t>
            </a:r>
          </a:p>
          <a:p>
            <a:pPr marL="342900" indent="-342900" defTabSz="995520">
              <a:buFont typeface="+mj-lt"/>
              <a:buAutoNum type="arabicPeriod"/>
            </a:pPr>
            <a:r>
              <a:rPr lang="en-AU" sz="1000">
                <a:solidFill>
                  <a:srgbClr val="333333"/>
                </a:solidFill>
                <a:latin typeface="Segoe UI"/>
              </a:rPr>
              <a:t>ServiceNow</a:t>
            </a:r>
          </a:p>
          <a:p>
            <a:pPr marL="342900" indent="-342900" defTabSz="995520">
              <a:buFont typeface="+mj-lt"/>
              <a:buAutoNum type="arabicPeriod"/>
            </a:pPr>
            <a:r>
              <a:rPr lang="en-AU" sz="1000">
                <a:solidFill>
                  <a:srgbClr val="333333"/>
                </a:solidFill>
                <a:latin typeface="Segoe UI"/>
              </a:rPr>
              <a:t>Technology One </a:t>
            </a:r>
          </a:p>
          <a:p>
            <a:pPr marL="342900" indent="-342900" defTabSz="995520">
              <a:buFont typeface="+mj-lt"/>
              <a:buAutoNum type="arabicPeriod"/>
            </a:pPr>
            <a:r>
              <a:rPr lang="en-AU" sz="1000">
                <a:solidFill>
                  <a:srgbClr val="333333"/>
                </a:solidFill>
                <a:latin typeface="Segoe UI"/>
              </a:rPr>
              <a:t>Imminently</a:t>
            </a:r>
          </a:p>
          <a:p>
            <a:pPr marL="342900" indent="-342900" defTabSz="995520">
              <a:buFont typeface="+mj-lt"/>
              <a:buAutoNum type="arabicPeriod"/>
            </a:pPr>
            <a:r>
              <a:rPr lang="en-AU" sz="1000">
                <a:solidFill>
                  <a:srgbClr val="333333"/>
                </a:solidFill>
                <a:latin typeface="Segoe UI"/>
              </a:rPr>
              <a:t>Oracle</a:t>
            </a:r>
          </a:p>
        </p:txBody>
      </p:sp>
    </p:spTree>
    <p:extLst>
      <p:ext uri="{BB962C8B-B14F-4D97-AF65-F5344CB8AC3E}">
        <p14:creationId xmlns:p14="http://schemas.microsoft.com/office/powerpoint/2010/main" val="2437593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97619-D126-5EDA-69EE-17F72D1C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590FF3D-DBA2-E883-D6EF-35ABCDFBB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/>
              <a:t>EMERGING ACCOUNTS</a:t>
            </a:r>
            <a:endParaRPr lang="en-AU" sz="4000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A9F617-41E5-8D2A-0D14-C61AB4AD9D64}"/>
              </a:ext>
            </a:extLst>
          </p:cNvPr>
          <p:cNvSpPr txBox="1"/>
          <p:nvPr/>
        </p:nvSpPr>
        <p:spPr>
          <a:xfrm>
            <a:off x="849558" y="3783733"/>
            <a:ext cx="3451860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Note: Meeting later this week to confirm steps forward</a:t>
            </a:r>
          </a:p>
        </p:txBody>
      </p:sp>
    </p:spTree>
    <p:extLst>
      <p:ext uri="{BB962C8B-B14F-4D97-AF65-F5344CB8AC3E}">
        <p14:creationId xmlns:p14="http://schemas.microsoft.com/office/powerpoint/2010/main" val="2823416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9033316-F3A0-3250-E83B-53DAB927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65E9-284F-6465-51A2-677719D18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81" y="107854"/>
            <a:ext cx="11765665" cy="540000"/>
          </a:xfrm>
        </p:spPr>
        <p:txBody>
          <a:bodyPr/>
          <a:lstStyle/>
          <a:p>
            <a:r>
              <a:rPr lang="en-AU"/>
              <a:t>VAT PLANNER STATUS UPDATE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64B1B49-CD88-4C4C-A2A4-309655E4FBD2}"/>
              </a:ext>
            </a:extLst>
          </p:cNvPr>
          <p:cNvGraphicFramePr>
            <a:graphicFrameLocks noGrp="1"/>
          </p:cNvGraphicFramePr>
          <p:nvPr/>
        </p:nvGraphicFramePr>
        <p:xfrm>
          <a:off x="959644" y="1643538"/>
          <a:ext cx="11531600" cy="5023486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4114984902"/>
                    </a:ext>
                  </a:extLst>
                </a:gridCol>
                <a:gridCol w="3987800">
                  <a:extLst>
                    <a:ext uri="{9D8B030D-6E8A-4147-A177-3AD203B41FA5}">
                      <a16:colId xmlns:a16="http://schemas.microsoft.com/office/drawing/2014/main" val="1645556869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15044459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153633833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641283075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124738973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37023985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Bucket Name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Task Name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Due date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Priority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Assigned To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Labels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18065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ACCOUNT GOALS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Additional services on Cloud Marketplace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08/12/2025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Kevin Ho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21093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BIG PLAY ACTIONS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DOHAC - Partners with whom to respond to RFQ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Foley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6611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IPEA Parliamentary Travel Management Services Tender - Potential 2026 Release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31/12/2025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Foley;Aleksandar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71006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General VAT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Variation of the LH management fee to Digital Marketplace Panel 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05/12/2025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William Scheer;Kevin Ho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80695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How to handle the opps coming through the Tenders 360 portal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Mark Volpato;Kevin Ho;Aleksandar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4981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How to manage new Performance Management Framework (PMF) for DMP2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Mark Volpato;Kevin Ho;Aleksandar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861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DTA Annual Digital Sourcing Survey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Kevin Ho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9102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 OPPS TASKS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ACTIC - Procurement advisory next steps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9C5700"/>
                          </a:solidFill>
                          <a:effectLst/>
                          <a:latin typeface="Aptos Narrow" panose="020B0004020202020204" pitchFamily="34" charset="0"/>
                        </a:rPr>
                        <a:t>AMBER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45832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DOD - Accenture - Re Recontest PASSS HR Modules 202512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9C5700"/>
                          </a:solidFill>
                          <a:effectLst/>
                          <a:latin typeface="Aptos Narrow" panose="020B0004020202020204" pitchFamily="34" charset="0"/>
                        </a:rPr>
                        <a:t>AMBER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5991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DOH - ATM for SNOW implementation partner panel 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Foley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03567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DoHAC - Extension of contract for FY26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William Scheer;Aleksandar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44813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EDU Childcare workforce screening 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12/12/2025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Foley;Aleksandar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9C5700"/>
                          </a:solidFill>
                          <a:effectLst/>
                          <a:latin typeface="Aptos Narrow" panose="020B0004020202020204" pitchFamily="34" charset="0"/>
                        </a:rPr>
                        <a:t>AMBER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94729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Next Steps on QLD Gov Panel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Foley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61877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Update Status check of Opens Opps and update respective VAT leads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31/12/2025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Colton Goodear;Rupa Tamang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81686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Regroup on DOH on ERP BC submission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Foley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391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ACTXXX Transforming Revenue Management with Composable Technology Solutions Express interest to participate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12/12/2025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Mark Volpato;Aleksandar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9C5700"/>
                          </a:solidFill>
                          <a:effectLst/>
                          <a:latin typeface="Aptos Narrow" panose="020B0004020202020204" pitchFamily="34" charset="0"/>
                        </a:rPr>
                        <a:t>AMBER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73800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DMP2 Industry Partners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Foley;Richard Ryan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90294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Cloud Marketplace Panel-Plan and prepare for full reapplication of Module 3 under DMP2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30/04/2026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00546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PEOPLE (CLIENT RELATIONSHIPS)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AEC project management contact handover from Arjun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Arjun Wariar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8853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DSS introduction to EPMO lead from Arjun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Arjun Wariar;Anil Kinagi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69957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Next Growth Section opportunities post AIIA OECD event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Lynne Hunt;Aleksandar Vranesevic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60838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Introduction to Lab3’s new head of federal government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progress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Foley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98576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Project Delivery Manager : DCCEEW 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started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30/11/2025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Swati Dhelia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6100"/>
                          </a:solidFill>
                          <a:effectLst/>
                          <a:latin typeface="Aptos Narrow" panose="020B0004020202020204" pitchFamily="34" charset="0"/>
                        </a:rPr>
                        <a:t>GREEN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54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476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528489"/>
      </p:ext>
    </p:extLst>
  </p:cSld>
  <p:clrMapOvr>
    <a:masterClrMapping/>
  </p:clrMapOvr>
</p:sld>
</file>

<file path=ppt/theme/theme1.xml><?xml version="1.0" encoding="utf-8"?>
<a:theme xmlns:a="http://schemas.openxmlformats.org/drawingml/2006/main" name="Reason Group Title Page">
  <a:themeElements>
    <a:clrScheme name="Reason Group">
      <a:dk1>
        <a:srgbClr val="333333"/>
      </a:dk1>
      <a:lt1>
        <a:sysClr val="window" lastClr="FFFFFF"/>
      </a:lt1>
      <a:dk2>
        <a:srgbClr val="2D9DB1"/>
      </a:dk2>
      <a:lt2>
        <a:srgbClr val="76787A"/>
      </a:lt2>
      <a:accent1>
        <a:srgbClr val="197F93"/>
      </a:accent1>
      <a:accent2>
        <a:srgbClr val="EB6900"/>
      </a:accent2>
      <a:accent3>
        <a:srgbClr val="573C6B"/>
      </a:accent3>
      <a:accent4>
        <a:srgbClr val="DC1E14"/>
      </a:accent4>
      <a:accent5>
        <a:srgbClr val="FFC000"/>
      </a:accent5>
      <a:accent6>
        <a:srgbClr val="70AD47"/>
      </a:accent6>
      <a:hlink>
        <a:srgbClr val="1DA6BD"/>
      </a:hlink>
      <a:folHlink>
        <a:srgbClr val="573C6B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ason Group - Presentation PowerPoint  -  Read-Only" id="{50113EDB-8423-42B1-B9F9-90E13816F645}" vid="{33405B5E-7891-4C4D-8F8E-E0220EA38410}"/>
    </a:ext>
  </a:extLst>
</a:theme>
</file>

<file path=ppt/theme/theme2.xml><?xml version="1.0" encoding="utf-8"?>
<a:theme xmlns:a="http://schemas.openxmlformats.org/drawingml/2006/main" name="Reason Group Content Page">
  <a:themeElements>
    <a:clrScheme name="Reason Group">
      <a:dk1>
        <a:srgbClr val="333333"/>
      </a:dk1>
      <a:lt1>
        <a:sysClr val="window" lastClr="FFFFFF"/>
      </a:lt1>
      <a:dk2>
        <a:srgbClr val="2D9DB1"/>
      </a:dk2>
      <a:lt2>
        <a:srgbClr val="76787A"/>
      </a:lt2>
      <a:accent1>
        <a:srgbClr val="197F93"/>
      </a:accent1>
      <a:accent2>
        <a:srgbClr val="EB6900"/>
      </a:accent2>
      <a:accent3>
        <a:srgbClr val="573C6B"/>
      </a:accent3>
      <a:accent4>
        <a:srgbClr val="DC1E14"/>
      </a:accent4>
      <a:accent5>
        <a:srgbClr val="FFC000"/>
      </a:accent5>
      <a:accent6>
        <a:srgbClr val="70AD47"/>
      </a:accent6>
      <a:hlink>
        <a:srgbClr val="1DA6BD"/>
      </a:hlink>
      <a:folHlink>
        <a:srgbClr val="573C6B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ason Group - Presentation PowerPoint  -  Read-Only" id="{50113EDB-8423-42B1-B9F9-90E13816F645}" vid="{63179F24-C8C1-4236-B21E-BF960AE3F03C}"/>
    </a:ext>
  </a:extLst>
</a:theme>
</file>

<file path=ppt/theme/theme3.xml><?xml version="1.0" encoding="utf-8"?>
<a:theme xmlns:a="http://schemas.openxmlformats.org/drawingml/2006/main" name="1_Reason Group Content Page">
  <a:themeElements>
    <a:clrScheme name="Reason Group">
      <a:dk1>
        <a:srgbClr val="333333"/>
      </a:dk1>
      <a:lt1>
        <a:sysClr val="window" lastClr="FFFFFF"/>
      </a:lt1>
      <a:dk2>
        <a:srgbClr val="2D9DB1"/>
      </a:dk2>
      <a:lt2>
        <a:srgbClr val="76787A"/>
      </a:lt2>
      <a:accent1>
        <a:srgbClr val="197F93"/>
      </a:accent1>
      <a:accent2>
        <a:srgbClr val="EB6900"/>
      </a:accent2>
      <a:accent3>
        <a:srgbClr val="573C6B"/>
      </a:accent3>
      <a:accent4>
        <a:srgbClr val="DC1E14"/>
      </a:accent4>
      <a:accent5>
        <a:srgbClr val="FFC000"/>
      </a:accent5>
      <a:accent6>
        <a:srgbClr val="70AD47"/>
      </a:accent6>
      <a:hlink>
        <a:srgbClr val="1DA6BD"/>
      </a:hlink>
      <a:folHlink>
        <a:srgbClr val="573C6B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ason - Template A4 Report - 2017-11-13" id="{789186B4-F7D2-446B-B7B3-94FB88308D7D}" vid="{CFFF93BD-2A4D-4FA7-A48C-2B26DC4FEC3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ns:customPropertyEditors xmlns:tns="http://schemas.microsoft.com/office/2006/customDocumentInformationPanel">
  <tns:showOnOpen>false</tns:showOnOpen>
  <tns:defaultPropertyEditorNamespace>Standard properties</tns:defaultPropertyEditorNamespace>
</tns:customPropertyEdito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31454B868FBF41A6B044483C95EA44" ma:contentTypeVersion="8" ma:contentTypeDescription="Create a new document." ma:contentTypeScope="" ma:versionID="fd26696db5234b6ee20db033129826b3">
  <xsd:schema xmlns:xsd="http://www.w3.org/2001/XMLSchema" xmlns:xs="http://www.w3.org/2001/XMLSchema" xmlns:p="http://schemas.microsoft.com/office/2006/metadata/properties" xmlns:ns2="226273a8-8113-43ba-8511-238a0f3f0621" xmlns:ns3="519172d9-6c9d-44c2-86fe-8c138e7b58ad" targetNamespace="http://schemas.microsoft.com/office/2006/metadata/properties" ma:root="true" ma:fieldsID="21a612b0c7619dbd56d59a5315caa06d" ns2:_="" ns3:_="">
    <xsd:import namespace="226273a8-8113-43ba-8511-238a0f3f0621"/>
    <xsd:import namespace="519172d9-6c9d-44c2-86fe-8c138e7b58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Instructions" minOccurs="0"/>
                <xsd:element ref="ns2:End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6273a8-8113-43ba-8511-238a0f3f06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Instructions" ma:index="14" nillable="true" ma:displayName="Naming" ma:default="ddmmyyyy - file" ma:description="How the file should be named" ma:format="Dropdown" ma:internalName="Instructions">
      <xsd:simpleType>
        <xsd:restriction base="dms:Text">
          <xsd:maxLength value="255"/>
        </xsd:restriction>
      </xsd:simpleType>
    </xsd:element>
    <xsd:element name="EndDate" ma:index="15" nillable="true" ma:displayName="End Date" ma:format="DateOnly" ma:internalName="End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172d9-6c9d-44c2-86fe-8c138e7b58a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structions xmlns="226273a8-8113-43ba-8511-238a0f3f0621">ddmmyyyy - file</Instructions>
    <EndDate xmlns="226273a8-8113-43ba-8511-238a0f3f0621" xsi:nil="true"/>
  </documentManagement>
</p:properties>
</file>

<file path=customXml/itemProps1.xml><?xml version="1.0" encoding="utf-8"?>
<ds:datastoreItem xmlns:ds="http://schemas.openxmlformats.org/officeDocument/2006/customXml" ds:itemID="{0AC78043-272B-4182-86CF-E0A11F86DB1B}">
  <ds:schemaRefs>
    <ds:schemaRef ds:uri="http://schemas.microsoft.com/office/2006/customDocumentInformationPanel"/>
  </ds:schemaRefs>
</ds:datastoreItem>
</file>

<file path=customXml/itemProps2.xml><?xml version="1.0" encoding="utf-8"?>
<ds:datastoreItem xmlns:ds="http://schemas.openxmlformats.org/officeDocument/2006/customXml" ds:itemID="{6087EDC9-3AD3-4293-9187-13EBDF59E6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A729D3-F7AE-4813-ABD4-9604424EF333}">
  <ds:schemaRefs>
    <ds:schemaRef ds:uri="226273a8-8113-43ba-8511-238a0f3f0621"/>
    <ds:schemaRef ds:uri="519172d9-6c9d-44c2-86fe-8c138e7b58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B7A2D26D-8695-4870-8B92-051155689C50}">
  <ds:schemaRefs>
    <ds:schemaRef ds:uri="http://purl.org/dc/elements/1.1/"/>
    <ds:schemaRef ds:uri="http://purl.org/dc/dcmitype/"/>
    <ds:schemaRef ds:uri="226273a8-8113-43ba-8511-238a0f3f0621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519172d9-6c9d-44c2-86fe-8c138e7b58ad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- Presentation</Template>
  <TotalTime>0</TotalTime>
  <Words>2876</Words>
  <Application>Microsoft Office PowerPoint</Application>
  <PresentationFormat>Custom</PresentationFormat>
  <Paragraphs>655</Paragraphs>
  <Slides>23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Aptos</vt:lpstr>
      <vt:lpstr>Aptos Narrow</vt:lpstr>
      <vt:lpstr>Arial</vt:lpstr>
      <vt:lpstr>Arial,Sans-Serif</vt:lpstr>
      <vt:lpstr>Calibri</vt:lpstr>
      <vt:lpstr>Segoe UI</vt:lpstr>
      <vt:lpstr>Times New Roman</vt:lpstr>
      <vt:lpstr>Wingdings</vt:lpstr>
      <vt:lpstr>Reason Group Title Page</vt:lpstr>
      <vt:lpstr>Reason Group Content Page</vt:lpstr>
      <vt:lpstr>1_Reason Group Content Page</vt:lpstr>
      <vt:lpstr>VAT Report</vt:lpstr>
      <vt:lpstr>DAFF VAT</vt:lpstr>
      <vt:lpstr>DAFF VAT Report</vt:lpstr>
      <vt:lpstr>DAFF VAT Report</vt:lpstr>
      <vt:lpstr>DAFF VAT: Strengthening Operational Management</vt:lpstr>
      <vt:lpstr>SAU VAT</vt:lpstr>
      <vt:lpstr>VAT Report</vt:lpstr>
      <vt:lpstr>VAT PLANNER STATUS UPDATE</vt:lpstr>
      <vt:lpstr>VICGov VAT</vt:lpstr>
      <vt:lpstr>VAT Report</vt:lpstr>
      <vt:lpstr>VAT PLANNER STATUS UPDATE</vt:lpstr>
      <vt:lpstr>DISR VAT</vt:lpstr>
      <vt:lpstr>VAT Report</vt:lpstr>
      <vt:lpstr>VAT PLANNER STATUS UPDATE</vt:lpstr>
      <vt:lpstr>GROWTH VAT</vt:lpstr>
      <vt:lpstr>VAT Report</vt:lpstr>
      <vt:lpstr>VAT PLANNER STATUS UPDATE</vt:lpstr>
      <vt:lpstr>PLATFORMS AND PARTNERSHIPS</vt:lpstr>
      <vt:lpstr>P&amp;P Report </vt:lpstr>
      <vt:lpstr>P&amp;P Report</vt:lpstr>
      <vt:lpstr>EMERGING ACCOUNTS</vt:lpstr>
      <vt:lpstr>VAT PLANNER STATUS UPDATE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Colton Goodear</dc:creator>
  <cp:lastModifiedBy>Siddhartha Sengupta</cp:lastModifiedBy>
  <cp:revision>2</cp:revision>
  <cp:lastPrinted>2025-07-02T05:38:12Z</cp:lastPrinted>
  <dcterms:created xsi:type="dcterms:W3CDTF">2025-07-29T22:57:12Z</dcterms:created>
  <dcterms:modified xsi:type="dcterms:W3CDTF">2026-02-21T07:00:25Z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0x010104007729E170D9F0824C89E5F547F1283262</vt:lpwstr>
  </property>
  <property fmtid="{D5CDD505-2E9C-101B-9397-08002B2CF9AE}" pid="3" name="_dlc_DocIdItemGuid">
    <vt:lpwstr>d110f938-c5f0-4024-9a24-80b55a7cd2b9</vt:lpwstr>
  </property>
  <property fmtid="{D5CDD505-2E9C-101B-9397-08002B2CF9AE}" pid="4" name="Order">
    <vt:r8>5352300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dlc_DocId">
    <vt:lpwstr>TZMSHVW457VK-766587111-53523</vt:lpwstr>
  </property>
  <property fmtid="{D5CDD505-2E9C-101B-9397-08002B2CF9AE}" pid="8" name="TriggerFlowInfo">
    <vt:lpwstr/>
  </property>
  <property fmtid="{D5CDD505-2E9C-101B-9397-08002B2CF9AE}" pid="9" name="_dlc_DocIdUrl">
    <vt:lpwstr>https://reasongroup.sharepoint.com/_layouts/15/DocIdRedir.aspx?ID=TZMSHVW457VK-766587111-53523, TZMSHVW457VK-766587111-53523</vt:lpwstr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MediaServiceImageTags">
    <vt:lpwstr/>
  </property>
  <property fmtid="{D5CDD505-2E9C-101B-9397-08002B2CF9AE}" pid="14" name="lcf76f155ced4ddcb4097134ff3c332f">
    <vt:lpwstr/>
  </property>
  <property fmtid="{D5CDD505-2E9C-101B-9397-08002B2CF9AE}" pid="15" name="TaxCatchAll">
    <vt:lpwstr/>
  </property>
</Properties>
</file>